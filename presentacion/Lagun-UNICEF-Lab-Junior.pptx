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8"/>
  </p:notesMasterIdLst>
  <p:sldIdLst>
    <p:sldId id="257" r:id="rId6"/>
    <p:sldId id="258" r:id="rId7"/>
    <p:sldId id="259" r:id="rId8"/>
    <p:sldId id="260" r:id="rId9"/>
    <p:sldId id="261" r:id="rId10"/>
    <p:sldId id="269" r:id="rId52"/>
    <p:sldId id="262" r:id="rId11"/>
    <p:sldId id="270" r:id="rId53"/>
    <p:sldId id="271" r:id="rId54"/>
    <p:sldId id="272" r:id="rId55"/>
    <p:sldId id="263" r:id="rId12"/>
    <p:sldId id="264" r:id="rId13"/>
    <p:sldId id="265" r:id="rId14"/>
    <p:sldId id="266" r:id="rId15"/>
    <p:sldId id="267" r:id="rId16"/>
  </p:sldIdLst>
  <p:sldSz cx="21336000" cy="13335000"/>
  <p:notesSz cx="6858000" cy="9144000"/>
  <p:embeddedFontLst>
    <p:embeddedFont>
      <p:font typeface="Helvetica Neue" panose="020B0604020202020204" charset="0"/>
      <p:regular r:id="rId19"/>
      <p:bold r:id="rId20"/>
      <p:italic r:id="rId21"/>
      <p:boldItalic r:id="rId22"/>
    </p:embeddedFont>
    <p:embeddedFont>
      <p:font typeface="Poppins Light" panose="020B0502040204020203" pitchFamily="2" charset="0"/>
      <p:regular r:id="rId23"/>
      <p:bold r:id="rId24"/>
      <p:italic r:id="rId25"/>
      <p:boldItalic r:id="rId26"/>
    </p:embeddedFont>
    <p:embeddedFont>
      <p:font typeface="Poppins Medium" panose="020B0502040204020203" pitchFamily="2" charset="0"/>
      <p:regular r:id="rId27"/>
      <p:bold r:id="rId28"/>
      <p:italic r:id="rId29"/>
      <p:boldItalic r:id="rId30"/>
    </p:embeddedFont>
    <p:embeddedFont>
      <p:font typeface="Source Serif 4" panose="020B0604020202020204" charset="0"/>
      <p:regular r:id="rId31"/>
      <p:bold r:id="rId32"/>
      <p:italic r:id="rId33"/>
      <p:boldItalic r:id="rId34"/>
    </p:embeddedFont>
    <p:embeddedFont>
      <p:font typeface="Source Serif 4 Light" panose="020B0604020202020204" charset="0"/>
      <p:regular r:id="rId35"/>
      <p:bold r:id="rId36"/>
      <p:italic r:id="rId37"/>
      <p:boldItalic r:id="rId38"/>
    </p:embeddedFont>
    <p:embeddedFont>
      <p:font typeface="Source Serif 4 Medium" panose="020B0604020202020204" charset="0"/>
      <p:regular r:id="rId39"/>
      <p:bold r:id="rId40"/>
      <p:italic r:id="rId41"/>
      <p:boldItalic r:id="rId42"/>
    </p:embeddedFont>
    <p:embeddedFont>
      <p:font typeface="Source Serif 4 SemiBold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iyoXVHzHH3Bu3oErC1bjdEHcC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12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1.fntdata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  <Relationship Id="rId52" Type="http://schemas.openxmlformats.org/officeDocument/2006/relationships/slide" Target="slides/slide14.xml"/>
  <Relationship Id="rId53" Type="http://schemas.openxmlformats.org/officeDocument/2006/relationships/slide" Target="slides/slide15.xml"/>
  <Relationship Id="rId54" Type="http://schemas.openxmlformats.org/officeDocument/2006/relationships/slide" Target="slides/slide16.xml"/>
  <Relationship Id="rId55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79de46e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(10 s) Hola, somos [nombre del equipo] y esto es Lagun: una app gratuita que acompaña la salud emocional de jóvenes de 13 a 25 años. Su mascota es Igel. Y la clave: sin rachas, sin notas y sin presión.</a:t>
            </a:r>
          </a:p>
        </p:txBody>
      </p:sp>
      <p:sp>
        <p:nvSpPr>
          <p:cNvPr id="119" name="Google Shape;119;g36d79de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Empezamos con un dato de UNICEF España: 4 de cada 10 adolescentes creen haber tenido un problema de salud mental en el último año. Puede ser cualquiera de esta sala, o un amigo nuestro.</a:t>
            </a:r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(25 s) El problema no es solo que lo pasen mal: es que no lo cuentan. Más de la mitad no pide ayuda y uno de cada tres no habla con nadie. Y las apps que existen están hechas para adultos y añaden presión.</a:t>
            </a:r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Pensamos en jóvenes de 13 a 25 años, como nosotros. Lo que pedían: algo que no juzgue, que no exija y que hable su idioma. Por eso Igel te recibe en castellano, catalán, euskera, gallego o inglés.</a:t>
            </a:r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027dcdef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Nuestra idea es Lagun: guardas tus emociones en una jarra, hablas con Igel y tienes herramientas para estudios, amistades, familia e identidad.</a:t>
            </a:r>
          </a:p>
        </p:txBody>
      </p:sp>
      <p:sp>
        <p:nvSpPr>
          <p:cNvPr id="168" name="Google Shape;168;g3af027dcde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027dcdef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Tres cosas nos diferencian: no hay presión, la IA no es genérica sino que entiende tu contexto, y la seguridad va siempre primero.</a:t>
            </a:r>
          </a:p>
        </p:txBody>
      </p:sp>
      <p:sp>
        <p:nvSpPr>
          <p:cNvPr id="181" name="Google Shape;181;g3af027dcde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f027dcdef_0_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Lagun será siempre gratis para los jóvenes. Para sostenerlo exploramos licencias para institutos y ayuntamientos, con datos anónimos, y apoyo de fundaciones. Además, mantenerlo cuesta muy poco.</a:t>
            </a:r>
          </a:p>
        </p:txBody>
      </p:sp>
      <p:sp>
        <p:nvSpPr>
          <p:cNvPr id="206" name="Google Shape;206;g3af027dcde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458572ba6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Para llegar lejos necesitamos aliados: UNICEF como partner social, psicólogos que revisen el contenido, institutos para el piloto, servicios de ayuda y asociaciones juveniles.</a:t>
            </a:r>
          </a:p>
        </p:txBody>
      </p:sp>
      <p:sp>
        <p:nvSpPr>
          <p:cNvPr id="219" name="Google Shape;219;g3f458572b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Nuestro plan para los próximos seis meses: validar con psicólogos y jóvenes, hacer un piloto en dos o tres institutos y medir si el ánimo mejora para llegar a más centros.</a:t>
            </a:r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f027dcdef_0_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(15 s) Lo que sientes importa, y aquí tienes tu espacio. Eso es Lagun. Os pedimos que nos acompañéis en el piloto para que llegue a los institutos.</a:t>
            </a:r>
          </a:p>
        </p:txBody>
      </p:sp>
      <p:sp>
        <p:nvSpPr>
          <p:cNvPr id="257" name="Google Shape;257;g3af027dcde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¡Muchas gracias! ¿Preguntas?</a:t>
            </a:r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79de46e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(30 s) Así funciona: tocas una emoción y cae en la jarra. Hablas con Igel. Apuntas tus exámenes y la app cruza el calendario con tu ánimo para avisarte cuando se acerca una semana dura. Y ves tu progreso sin notas.</a:t>
            </a:r>
          </a:p>
        </p:txBody>
      </p:sp>
      <p:sp>
        <p:nvSpPr>
          <p:cNvPr id="119" name="Google Shape;119;g36d79de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79de46e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Y lo más importante: ya funciona. Lagun es un prototipo real, en cinco idiomas, con cuatro áreas y sin rachas ni anuncios. Hoy mismo se puede instalar en el móvil.</a:t>
            </a:r>
          </a:p>
        </p:txBody>
      </p:sp>
      <p:sp>
        <p:nvSpPr>
          <p:cNvPr id="119" name="Google Shape;119;g36d79de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79de46e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(25 s) Trabajamos con menores, así que la seguridad va primero. Si alguien escribe algo preocupante, Igel para y muestra el 024 y el 112. El chat no se guarda, solo pedimos usuario y contraseña, y Igel nunca sustituye a un profesional.</a:t>
            </a:r>
          </a:p>
        </p:txBody>
      </p:sp>
      <p:sp>
        <p:nvSpPr>
          <p:cNvPr id="119" name="Google Shape;119;g36d79de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79de46e5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(20 s) Lagun encaja con lo que defiende UNICEF: el ODS 3 de salud y bienestar, el derecho a ser escuchado del artículo 12 y el derecho a la salud del artículo 24 de la Convención.</a:t>
            </a:r>
          </a:p>
        </p:txBody>
      </p:sp>
      <p:sp>
        <p:nvSpPr>
          <p:cNvPr id="119" name="Google Shape;119;g36d79de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555750" y="2678112"/>
            <a:ext cx="18224500" cy="406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Helvetica Neue"/>
              <a:buNone/>
              <a:defRPr sz="10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555750" y="6856412"/>
            <a:ext cx="18224500" cy="138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10456297" y="12112625"/>
            <a:ext cx="412294" cy="42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1981200" y="2235200"/>
            <a:ext cx="173609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1"/>
          </p:nvPr>
        </p:nvSpPr>
        <p:spPr>
          <a:xfrm>
            <a:off x="1981200" y="6870700"/>
            <a:ext cx="173609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>
  <p:cSld name="Título y viñeta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1981200" y="3784600"/>
            <a:ext cx="17360900" cy="7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424053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1pPr>
            <a:lvl2pPr marL="914400" lvl="1" indent="-424053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2pPr>
            <a:lvl3pPr marL="1371600" lvl="2" indent="-424053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3pPr>
            <a:lvl4pPr marL="1828800" lvl="3" indent="-424053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4pPr>
            <a:lvl5pPr marL="2286000" lvl="4" indent="-424053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 (2 columnas)">
  <p:cSld name="Título y viñetas (2 columnas)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1981200" y="3784600"/>
            <a:ext cx="17360900" cy="7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1pPr>
            <a:lvl2pPr marL="914400" lvl="1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2pPr>
            <a:lvl3pPr marL="1371600" lvl="2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3pPr>
            <a:lvl4pPr marL="1828800" lvl="3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4pPr>
            <a:lvl5pPr marL="2286000" lvl="4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ñetas">
  <p:cSld name="Viñeta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1981200" y="1727200"/>
            <a:ext cx="17360900" cy="9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1pPr>
            <a:lvl2pPr marL="914400" lvl="1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2pPr>
            <a:lvl3pPr marL="1371600" lvl="2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3pPr>
            <a:lvl4pPr marL="1828800" lvl="3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4pPr>
            <a:lvl5pPr marL="2286000" lvl="4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(arriba)">
  <p:cSld name="Título (arriba)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(centro)">
  <p:cSld name="Título (centro)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1981200" y="4064000"/>
            <a:ext cx="17360900" cy="5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horizontal)">
  <p:cSld name="Foto (horizontal)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>
            <a:spLocks noGrp="1"/>
          </p:cNvSpPr>
          <p:nvPr>
            <p:ph type="pic" idx="2"/>
          </p:nvPr>
        </p:nvSpPr>
        <p:spPr>
          <a:xfrm>
            <a:off x="5397500" y="2882900"/>
            <a:ext cx="10528301" cy="6531233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1981200" y="10071100"/>
            <a:ext cx="173609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reflejo horizontal)">
  <p:cSld name="Foto (reflejo horizontal)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>
            <a:spLocks noGrp="1"/>
          </p:cNvSpPr>
          <p:nvPr>
            <p:ph type="pic" idx="2"/>
          </p:nvPr>
        </p:nvSpPr>
        <p:spPr>
          <a:xfrm>
            <a:off x="5397500" y="2882900"/>
            <a:ext cx="10528301" cy="6531233"/>
          </a:xfrm>
          <a:prstGeom prst="rect">
            <a:avLst/>
          </a:prstGeom>
          <a:noFill/>
          <a:ln>
            <a:noFill/>
          </a:ln>
          <a:effectLst>
            <a:reflection stA="50000" endPos="40000" sy="-100000" algn="bl" rotWithShape="0"/>
          </a:effectLst>
        </p:spPr>
      </p:sp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1981200" y="10071100"/>
            <a:ext cx="173609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vertical)">
  <p:cSld name="Foto (vertical)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>
            <a:spLocks noGrp="1"/>
          </p:cNvSpPr>
          <p:nvPr>
            <p:ph type="pic" idx="2"/>
          </p:nvPr>
        </p:nvSpPr>
        <p:spPr>
          <a:xfrm>
            <a:off x="12103100" y="1651000"/>
            <a:ext cx="6629400" cy="9950613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1981200" y="2082800"/>
            <a:ext cx="96520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  <a:defRPr sz="9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1"/>
          </p:nvPr>
        </p:nvSpPr>
        <p:spPr>
          <a:xfrm>
            <a:off x="1981200" y="6705600"/>
            <a:ext cx="96520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reflejo vertical)">
  <p:cSld name="Foto (reflejo vertical)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>
            <a:spLocks noGrp="1"/>
          </p:cNvSpPr>
          <p:nvPr>
            <p:ph type="pic" idx="2"/>
          </p:nvPr>
        </p:nvSpPr>
        <p:spPr>
          <a:xfrm>
            <a:off x="12103100" y="1651000"/>
            <a:ext cx="6629400" cy="9950613"/>
          </a:xfrm>
          <a:prstGeom prst="rect">
            <a:avLst/>
          </a:prstGeom>
          <a:noFill/>
          <a:ln>
            <a:noFill/>
          </a:ln>
          <a:effectLst>
            <a:reflection stA="50000" endPos="40000" sy="-100000" algn="bl" rotWithShape="0"/>
          </a:effectLst>
        </p:spPr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1981200" y="2082800"/>
            <a:ext cx="96520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  <a:defRPr sz="9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1"/>
          </p:nvPr>
        </p:nvSpPr>
        <p:spPr>
          <a:xfrm>
            <a:off x="1981200" y="6705600"/>
            <a:ext cx="96520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  <a:defRPr sz="46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viñetas y foto">
  <p:cSld name="Título, viñetas y fot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12573000" y="3454400"/>
            <a:ext cx="5702300" cy="8559052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1"/>
          </p:nvPr>
        </p:nvSpPr>
        <p:spPr>
          <a:xfrm>
            <a:off x="1981200" y="3784600"/>
            <a:ext cx="8458200" cy="7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1pPr>
            <a:lvl2pPr marL="914400" lvl="1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2pPr>
            <a:lvl3pPr marL="1371600" lvl="2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3pPr>
            <a:lvl4pPr marL="1828800" lvl="3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4pPr>
            <a:lvl5pPr marL="2286000" lvl="4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 (izquierda)">
  <p:cSld name="Título y viñetas (izquierda)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1"/>
          </p:nvPr>
        </p:nvSpPr>
        <p:spPr>
          <a:xfrm>
            <a:off x="1981200" y="3784600"/>
            <a:ext cx="8458200" cy="7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1pPr>
            <a:lvl2pPr marL="914400" lvl="1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2pPr>
            <a:lvl3pPr marL="1371600" lvl="2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3pPr>
            <a:lvl4pPr marL="1828800" lvl="3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4pPr>
            <a:lvl5pPr marL="2286000" lvl="4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 (derecha)">
  <p:cSld name="Título y viñetas (derecha)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1"/>
          </p:nvPr>
        </p:nvSpPr>
        <p:spPr>
          <a:xfrm>
            <a:off x="11734800" y="3784600"/>
            <a:ext cx="7607300" cy="7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1pPr>
            <a:lvl2pPr marL="914400" lvl="1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2pPr>
            <a:lvl3pPr marL="1371600" lvl="2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3pPr>
            <a:lvl4pPr marL="1828800" lvl="3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4pPr>
            <a:lvl5pPr marL="2286000" lvl="4" indent="-684657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rgbClr val="000000"/>
              </a:buClr>
              <a:buSzPts val="7182"/>
              <a:buFont typeface="Arial"/>
              <a:buChar char="•"/>
              <a:defRPr sz="42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 copia">
  <p:cSld name="Título y subtítulo copia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>
            <a:spLocks noGrp="1"/>
          </p:cNvSpPr>
          <p:nvPr>
            <p:ph type="title"/>
          </p:nvPr>
        </p:nvSpPr>
        <p:spPr>
          <a:xfrm>
            <a:off x="2082800" y="2247900"/>
            <a:ext cx="17170401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body" idx="1"/>
          </p:nvPr>
        </p:nvSpPr>
        <p:spPr>
          <a:xfrm>
            <a:off x="2082800" y="6870700"/>
            <a:ext cx="171704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sldNum" idx="12"/>
          </p:nvPr>
        </p:nvSpPr>
        <p:spPr>
          <a:xfrm>
            <a:off x="10458450" y="12750800"/>
            <a:ext cx="3937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 copia 1">
  <p:cSld name="Título y subtítulo copia 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>
            <a:spLocks noGrp="1"/>
          </p:cNvSpPr>
          <p:nvPr>
            <p:ph type="title"/>
          </p:nvPr>
        </p:nvSpPr>
        <p:spPr>
          <a:xfrm>
            <a:off x="2082800" y="2247900"/>
            <a:ext cx="17170401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1"/>
          </p:nvPr>
        </p:nvSpPr>
        <p:spPr>
          <a:xfrm>
            <a:off x="2082800" y="6870700"/>
            <a:ext cx="171704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sldNum" idx="12"/>
          </p:nvPr>
        </p:nvSpPr>
        <p:spPr>
          <a:xfrm>
            <a:off x="10458450" y="12750800"/>
            <a:ext cx="3937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>
  <p:cSld name="Título y subtítulo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>
            <a:spLocks noGrp="1"/>
          </p:cNvSpPr>
          <p:nvPr>
            <p:ph type="title"/>
          </p:nvPr>
        </p:nvSpPr>
        <p:spPr>
          <a:xfrm>
            <a:off x="1981200" y="2235200"/>
            <a:ext cx="173609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body" idx="1"/>
          </p:nvPr>
        </p:nvSpPr>
        <p:spPr>
          <a:xfrm>
            <a:off x="1981200" y="6870700"/>
            <a:ext cx="173609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>
  <p:cSld name="Título y subtítulo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1981200" y="2235200"/>
            <a:ext cx="173609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body" idx="1"/>
          </p:nvPr>
        </p:nvSpPr>
        <p:spPr>
          <a:xfrm>
            <a:off x="1981200" y="6870700"/>
            <a:ext cx="173609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 copia 1">
  <p:cSld name="Título y subtítulo copia 1 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"/>
          <p:cNvSpPr txBox="1">
            <a:spLocks noGrp="1"/>
          </p:cNvSpPr>
          <p:nvPr>
            <p:ph type="title"/>
          </p:nvPr>
        </p:nvSpPr>
        <p:spPr>
          <a:xfrm>
            <a:off x="2082800" y="2247900"/>
            <a:ext cx="17170401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4"/>
          <p:cNvSpPr txBox="1">
            <a:spLocks noGrp="1"/>
          </p:cNvSpPr>
          <p:nvPr>
            <p:ph type="body" idx="1"/>
          </p:nvPr>
        </p:nvSpPr>
        <p:spPr>
          <a:xfrm>
            <a:off x="2082800" y="6870700"/>
            <a:ext cx="171704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 txBox="1">
            <a:spLocks noGrp="1"/>
          </p:cNvSpPr>
          <p:nvPr>
            <p:ph type="sldNum" idx="12"/>
          </p:nvPr>
        </p:nvSpPr>
        <p:spPr>
          <a:xfrm>
            <a:off x="10458450" y="12750800"/>
            <a:ext cx="3937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 copia">
  <p:cSld name="Título y subtítulo copia 2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5"/>
          <p:cNvSpPr txBox="1">
            <a:spLocks noGrp="1"/>
          </p:cNvSpPr>
          <p:nvPr>
            <p:ph type="title"/>
          </p:nvPr>
        </p:nvSpPr>
        <p:spPr>
          <a:xfrm>
            <a:off x="2082800" y="2247900"/>
            <a:ext cx="17170401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5"/>
          <p:cNvSpPr txBox="1">
            <a:spLocks noGrp="1"/>
          </p:cNvSpPr>
          <p:nvPr>
            <p:ph type="body" idx="1"/>
          </p:nvPr>
        </p:nvSpPr>
        <p:spPr>
          <a:xfrm>
            <a:off x="2082800" y="6870700"/>
            <a:ext cx="171704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5"/>
          <p:cNvSpPr txBox="1">
            <a:spLocks noGrp="1"/>
          </p:cNvSpPr>
          <p:nvPr>
            <p:ph type="sldNum" idx="12"/>
          </p:nvPr>
        </p:nvSpPr>
        <p:spPr>
          <a:xfrm>
            <a:off x="10458450" y="12750800"/>
            <a:ext cx="3937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 copia">
  <p:cSld name="Título y subtítulo copia 3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"/>
          <p:cNvSpPr txBox="1">
            <a:spLocks noGrp="1"/>
          </p:cNvSpPr>
          <p:nvPr>
            <p:ph type="title"/>
          </p:nvPr>
        </p:nvSpPr>
        <p:spPr>
          <a:xfrm>
            <a:off x="2082800" y="2247900"/>
            <a:ext cx="17170401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6"/>
          <p:cNvSpPr txBox="1">
            <a:spLocks noGrp="1"/>
          </p:cNvSpPr>
          <p:nvPr>
            <p:ph type="body" idx="1"/>
          </p:nvPr>
        </p:nvSpPr>
        <p:spPr>
          <a:xfrm>
            <a:off x="2082800" y="6870700"/>
            <a:ext cx="171704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6"/>
          <p:cNvSpPr txBox="1">
            <a:spLocks noGrp="1"/>
          </p:cNvSpPr>
          <p:nvPr>
            <p:ph type="sldNum" idx="12"/>
          </p:nvPr>
        </p:nvSpPr>
        <p:spPr>
          <a:xfrm>
            <a:off x="10458450" y="12750800"/>
            <a:ext cx="3937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>
  <p:cSld name="Título y subtítulo 3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7"/>
          <p:cNvSpPr txBox="1">
            <a:spLocks noGrp="1"/>
          </p:cNvSpPr>
          <p:nvPr>
            <p:ph type="title"/>
          </p:nvPr>
        </p:nvSpPr>
        <p:spPr>
          <a:xfrm>
            <a:off x="1981200" y="2235200"/>
            <a:ext cx="173609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7"/>
          <p:cNvSpPr txBox="1">
            <a:spLocks noGrp="1"/>
          </p:cNvSpPr>
          <p:nvPr>
            <p:ph type="body" idx="1"/>
          </p:nvPr>
        </p:nvSpPr>
        <p:spPr>
          <a:xfrm>
            <a:off x="1981200" y="6870700"/>
            <a:ext cx="173609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7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8"/>
          <p:cNvSpPr txBox="1">
            <a:spLocks noGrp="1"/>
          </p:cNvSpPr>
          <p:nvPr>
            <p:ph type="title"/>
          </p:nvPr>
        </p:nvSpPr>
        <p:spPr>
          <a:xfrm>
            <a:off x="5839271" y="3346772"/>
            <a:ext cx="9657459" cy="33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0"/>
              <a:buFont typeface="Helvetica Neue"/>
              <a:buNone/>
              <a:defRPr sz="10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8"/>
          <p:cNvSpPr txBox="1">
            <a:spLocks noGrp="1"/>
          </p:cNvSpPr>
          <p:nvPr>
            <p:ph type="body" idx="1"/>
          </p:nvPr>
        </p:nvSpPr>
        <p:spPr>
          <a:xfrm>
            <a:off x="5839271" y="6823769"/>
            <a:ext cx="9657459" cy="1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8"/>
          <p:cNvSpPr txBox="1">
            <a:spLocks noGrp="1"/>
          </p:cNvSpPr>
          <p:nvPr>
            <p:ph type="sldNum" idx="12"/>
          </p:nvPr>
        </p:nvSpPr>
        <p:spPr>
          <a:xfrm>
            <a:off x="10479521" y="11199316"/>
            <a:ext cx="374060" cy="379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 2">
    <p:bg>
      <p:bgPr>
        <a:solidFill>
          <a:srgbClr val="00000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9"/>
          <p:cNvSpPr txBox="1">
            <a:spLocks noGrp="1"/>
          </p:cNvSpPr>
          <p:nvPr>
            <p:ph type="title"/>
          </p:nvPr>
        </p:nvSpPr>
        <p:spPr>
          <a:xfrm>
            <a:off x="5839271" y="3346772"/>
            <a:ext cx="9657459" cy="33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0"/>
              <a:buFont typeface="Helvetica Neue"/>
              <a:buNone/>
              <a:defRPr sz="10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body" idx="1"/>
          </p:nvPr>
        </p:nvSpPr>
        <p:spPr>
          <a:xfrm>
            <a:off x="5839271" y="6823769"/>
            <a:ext cx="9657459" cy="1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"/>
              <a:buNone/>
              <a:defRPr sz="5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9"/>
          <p:cNvSpPr txBox="1">
            <a:spLocks noGrp="1"/>
          </p:cNvSpPr>
          <p:nvPr>
            <p:ph type="sldNum" idx="12"/>
          </p:nvPr>
        </p:nvSpPr>
        <p:spPr>
          <a:xfrm>
            <a:off x="10479521" y="11199316"/>
            <a:ext cx="374060" cy="379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3575" tIns="53575" rIns="53575" bIns="535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>
  <p:cSld name="Título y subtítulo 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0"/>
          <p:cNvSpPr txBox="1">
            <a:spLocks noGrp="1"/>
          </p:cNvSpPr>
          <p:nvPr>
            <p:ph type="title"/>
          </p:nvPr>
        </p:nvSpPr>
        <p:spPr>
          <a:xfrm>
            <a:off x="1981200" y="2235200"/>
            <a:ext cx="17360900" cy="4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body" idx="1"/>
          </p:nvPr>
        </p:nvSpPr>
        <p:spPr>
          <a:xfrm>
            <a:off x="1981200" y="6870700"/>
            <a:ext cx="173609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marL="3200400" lvl="6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marL="3657600" lvl="7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marL="4114800" lvl="8" indent="-424053" algn="l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sldNum" idx="12"/>
          </p:nvPr>
        </p:nvSpPr>
        <p:spPr>
          <a:xfrm>
            <a:off x="10422331" y="12683134"/>
            <a:ext cx="478638" cy="48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body" idx="1"/>
          </p:nvPr>
        </p:nvSpPr>
        <p:spPr>
          <a:xfrm>
            <a:off x="1981200" y="1727200"/>
            <a:ext cx="17360900" cy="9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36676" algn="l" rtl="0">
              <a:lnSpc>
                <a:spcPct val="100000"/>
              </a:lnSpc>
              <a:spcBef>
                <a:spcPts val="6600"/>
              </a:spcBef>
              <a:spcAft>
                <a:spcPts val="0"/>
              </a:spcAft>
              <a:buClr>
                <a:srgbClr val="000000"/>
              </a:buClr>
              <a:buSzPts val="9576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title"/>
          </p:nvPr>
        </p:nvSpPr>
        <p:spPr>
          <a:xfrm>
            <a:off x="1981200" y="342900"/>
            <a:ext cx="17360900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0"/>
              <a:buFont typeface="Arial"/>
              <a:buNone/>
              <a:defRPr sz="1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10439400" y="12687300"/>
            <a:ext cx="444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63500" rIns="63500" bIns="635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gel-feliz.png"/><Relationship Id="rId6" Type="http://schemas.openxmlformats.org/officeDocument/2006/relationships/image" Target="../media/lagun-07-inicio.png"/><Relationship Id="rId7" Type="http://schemas.openxmlformats.org/officeDocument/2006/relationships/image" Target="../media/lagun-10-jarra.png"/><Relationship Id="rId8" Type="http://schemas.openxmlformats.org/officeDocument/2006/relationships/image" Target="../media/lagun-11-chat-igel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preocupado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triste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lagun-03-onboarding-idioma.png"/><Relationship Id="rId6" Type="http://schemas.openxmlformats.org/officeDocument/2006/relationships/image" Target="../media/lagun-05-onboarding-pregunta.png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tranquilo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dormido.png"/><Relationship Id="rId6" Type="http://schemas.openxmlformats.org/officeDocument/2006/relationships/image" Target="../media/igel-estudiando.png"/><Relationship Id="rId7" Type="http://schemas.openxmlformats.org/officeDocument/2006/relationships/image" Target="../media/igel-feliz.pn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corona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flores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tranquilo.png"/><Relationship Id="rId6" Type="http://schemas.openxmlformats.org/officeDocument/2006/relationships/image" Target="../media/igel-emocionado.png"/><Relationship Id="rId7" Type="http://schemas.openxmlformats.org/officeDocument/2006/relationships/image" Target="../media/igel-arcoiris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5" Type="http://schemas.openxmlformats.org/officeDocument/2006/relationships/image" Target="../media/igel-feliz.png"/><Relationship Id="rId6" Type="http://schemas.openxmlformats.org/officeDocument/2006/relationships/image" Target="../media/igel-emocionado.png"/><Relationship Id="rId7" Type="http://schemas.openxmlformats.org/officeDocument/2006/relationships/image" Target="../media/igel-invierno.png"/><Relationship Id="rId8" Type="http://schemas.openxmlformats.org/officeDocument/2006/relationships/image" Target="../media/igel-corona.png"/><Relationship Id="rId9" Type="http://schemas.openxmlformats.org/officeDocument/2006/relationships/image" Target="../media/igel-nenufar.png"/><Relationship Id="rId10" Type="http://schemas.openxmlformats.org/officeDocument/2006/relationships/image" Target="../media/igel-arcoiris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gel-emocionado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0" Type="http://schemas.openxmlformats.org/officeDocument/2006/relationships/notesSlide" Target="../notesSlides/notesSlide14.xml"/><Relationship Id="rId91" Type="http://schemas.openxmlformats.org/officeDocument/2006/relationships/image" Target="../media/lagun-07-inicio.png"/><Relationship Id="rId92" Type="http://schemas.openxmlformats.org/officeDocument/2006/relationships/image" Target="../media/lagun-10-jarra.png"/><Relationship Id="rId93" Type="http://schemas.openxmlformats.org/officeDocument/2006/relationships/image" Target="../media/lagun-11-chat-igel.png"/><Relationship Id="rId94" Type="http://schemas.openxmlformats.org/officeDocument/2006/relationships/image" Target="../media/lagun-09-examenes.png"/><Relationship Id="rId95" Type="http://schemas.openxmlformats.org/officeDocument/2006/relationships/image" Target="../media/lagun-14-progreso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0" Type="http://schemas.openxmlformats.org/officeDocument/2006/relationships/notesSlide" Target="../notesSlides/notesSlide15.xml"/><Relationship Id="rId91" Type="http://schemas.openxmlformats.org/officeDocument/2006/relationships/image" Target="../media/igel-emocionado.png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0" Type="http://schemas.openxmlformats.org/officeDocument/2006/relationships/notesSlide" Target="../notesSlides/notesSlide16.xml"/><Relationship Id="rId91" Type="http://schemas.openxmlformats.org/officeDocument/2006/relationships/image" Target="../media/lagun-12-chat-ayuda-inmediata.png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90" Type="http://schemas.openxmlformats.org/officeDocument/2006/relationships/notesSlide" Target="../notesSlides/notesSlide1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d79de46e5_0_0"/>
          <p:cNvSpPr/>
          <p:nvPr/>
        </p:nvSpPr>
        <p:spPr>
          <a:xfrm>
            <a:off x="-78582" y="-27286"/>
            <a:ext cx="21493200" cy="13389600"/>
          </a:xfrm>
          <a:prstGeom prst="rect">
            <a:avLst/>
          </a:prstGeom>
          <a:solidFill>
            <a:srgbClr val="5DD8D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6d79de46e5_0_0"/>
          <p:cNvSpPr/>
          <p:nvPr/>
        </p:nvSpPr>
        <p:spPr>
          <a:xfrm>
            <a:off x="619575" y="1465950"/>
            <a:ext cx="20123700" cy="2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BB71"/>
              </a:buClr>
              <a:buSzPts val="17400"/>
              <a:buFont typeface="Helvetica Neue"/>
              <a:buNone/>
            </a:pPr>
            <a:r>
              <a:rPr lang="en-US" sz="7000" b="0" i="0" u="none" strike="noStrike" cap="none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Lagun.</a:t>
            </a:r>
            <a:endParaRPr sz="100" b="0" i="0" u="none" strike="noStrike" cap="none">
              <a:solidFill>
                <a:srgbClr val="18183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3" name="Google Shape;123;g36d79de46e5_0_0"/>
          <p:cNvSpPr/>
          <p:nvPr/>
        </p:nvSpPr>
        <p:spPr>
          <a:xfrm>
            <a:off x="-78650" y="11259825"/>
            <a:ext cx="21493200" cy="2132700"/>
          </a:xfrm>
          <a:prstGeom prst="rect">
            <a:avLst/>
          </a:prstGeom>
          <a:solidFill>
            <a:srgbClr val="FBDC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6d79de46e5_0_0"/>
          <p:cNvSpPr/>
          <p:nvPr/>
        </p:nvSpPr>
        <p:spPr>
          <a:xfrm>
            <a:off x="672490" y="10970269"/>
            <a:ext cx="18439500" cy="1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9C0"/>
              </a:buClr>
              <a:buSzPts val="9600"/>
              <a:buFont typeface="Helvetica Neue"/>
              <a:buNone/>
            </a:pPr>
            <a:r>
              <a:rPr lang="en-US" sz="4300" b="0" i="0" u="none" strike="noStrike" cap="none">
                <a:solidFill>
                  <a:srgbClr val="18183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 app que acompaña la salud emocional de jóvenes de 13 a 25 años, sin rachas ni presión.</a:t>
            </a:r>
            <a:endParaRPr sz="100" b="0" i="0" u="none" strike="noStrike" cap="none">
              <a:solidFill>
                <a:srgbClr val="18183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901" name="Igel, la mascota de Lagun" descr="Igel, la mascota de Lagu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00" y="4000000"/>
            <a:ext cx="6600000" cy="6600000"/>
          </a:xfrm>
          <a:prstGeom prst="rect">
            <a:avLst/>
          </a:prstGeom>
          <a:ln>
            <a:noFill/>
          </a:ln>
        </p:spPr>
      </p:pic>
      <p:pic>
        <p:nvPicPr>
          <p:cNvPr id="902" name="Captura 07-inicio" descr="Captura 07-inic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8322" y="2000000"/>
            <a:ext cx="4112559" cy="89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pic>
        <p:nvPicPr>
          <p:cNvPr id="903" name="Captura 10-jarra" descr="Captura 10-jarr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0881" y="2000000"/>
            <a:ext cx="4112559" cy="89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pic>
        <p:nvPicPr>
          <p:cNvPr id="904" name="Captura 11-chat-igel" descr="Captura 11-chat-ig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3440" y="2000000"/>
            <a:ext cx="4112559" cy="89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grpSp>
        <p:nvGrpSpPr>
          <p:cNvPr id="127" name="Google Shape;127;g36d79de46e5_0_0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28" name="Google Shape;128;g36d79de46e5_0_0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g36d79de46e5_0_0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g36d79de46e5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/>
          <p:nvPr/>
        </p:nvSpPr>
        <p:spPr>
          <a:xfrm>
            <a:off x="-119758" y="984273"/>
            <a:ext cx="21575400" cy="13535100"/>
          </a:xfrm>
          <a:prstGeom prst="rect">
            <a:avLst/>
          </a:prstGeom>
          <a:solidFill>
            <a:srgbClr val="FF83C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08281" y="3300000"/>
            <a:ext cx="16399999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 b="0" i="0" u="none" strike="noStrike" cap="none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El </a:t>
            </a:r>
            <a:r>
              <a:rPr lang="en-US" sz="7600" b="0" i="0" u="none" strike="noStrike" cap="none">
                <a:solidFill>
                  <a:srgbClr val="181832"/>
                </a:solidFill>
                <a:highlight>
                  <a:srgbClr val="FBDC49"/>
                </a:highlight>
                <a:latin typeface="Poppins Light"/>
                <a:ea typeface="Poppins Light"/>
                <a:cs typeface="Poppins Light"/>
                <a:sym typeface="Poppins Light"/>
              </a:rPr>
              <a:t>41 %</a:t>
            </a:r>
            <a:r>
              <a:rPr lang="en-US" sz="7600" b="0" i="0" u="none" strike="noStrike" cap="none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 de los adolescentes cree haber tenido un problema de salud mental en el último año.</a:t>
            </a:r>
            <a:endParaRPr sz="1400" b="0" i="0" u="none" strike="noStrike" cap="none">
              <a:solidFill>
                <a:srgbClr val="1818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06150" y="8300000"/>
            <a:ext cx="1600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5D1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181832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UNICEF España, Barómetro de Opinión de la Infancia y la Adolescencia 2023-2024</a:t>
            </a:r>
            <a:endParaRPr sz="1400" b="0" i="0" u="none" strike="noStrike" cap="none">
              <a:solidFill>
                <a:srgbClr val="181832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pic>
        <p:nvPicPr>
          <p:cNvPr id="901" name="Igel preocupado" descr="Igel preocupa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0000" y="8199999"/>
            <a:ext cx="4000000" cy="4000000"/>
          </a:xfrm>
          <a:prstGeom prst="rect">
            <a:avLst/>
          </a:prstGeom>
          <a:ln>
            <a:noFill/>
          </a:ln>
        </p:spPr>
      </p:pic>
      <p:grpSp>
        <p:nvGrpSpPr>
          <p:cNvPr id="138" name="Google Shape;138;p2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39" name="Google Shape;139;p2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p2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606150" y="1900000"/>
            <a:ext cx="144243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5DD8D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Problemática</a:t>
            </a:r>
            <a:endParaRPr sz="4200" b="1" i="0" u="none" strike="noStrike" cap="none">
              <a:solidFill>
                <a:srgbClr val="5DD8D5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06145" y="3300000"/>
            <a:ext cx="1540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Lo pasan mal y no lo cuentan. De quienes tuvieron un problema de salud mental: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6630350" y="8893225"/>
            <a:ext cx="4137600" cy="3815100"/>
          </a:xfrm>
          <a:prstGeom prst="rect">
            <a:avLst/>
          </a:prstGeom>
          <a:solidFill>
            <a:srgbClr val="FBDC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Texto 901"/>
          <p:cNvSpPr txBox="1"/>
          <p:nvPr/>
        </p:nvSpPr>
        <p:spPr>
          <a:xfrm>
            <a:off x="600000" y="4500000"/>
            <a:ext cx="7200000" cy="2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ES" sz="14000" b="0">
                <a:solidFill>
                  <a:srgbClr val="FF247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+50 %</a:t>
            </a:r>
          </a:p>
        </p:txBody>
      </p:sp>
      <p:sp>
        <p:nvSpPr>
          <p:cNvPr id="902" name="Texto 902"/>
          <p:cNvSpPr txBox="1"/>
          <p:nvPr/>
        </p:nvSpPr>
        <p:spPr>
          <a:xfrm>
            <a:off x="600000" y="6900000"/>
            <a:ext cx="72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ES" sz="38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pidió ayuda</a:t>
            </a:r>
          </a:p>
        </p:txBody>
      </p:sp>
      <p:sp>
        <p:nvSpPr>
          <p:cNvPr id="903" name="Texto 903"/>
          <p:cNvSpPr txBox="1"/>
          <p:nvPr/>
        </p:nvSpPr>
        <p:spPr>
          <a:xfrm>
            <a:off x="8200000" y="4500000"/>
            <a:ext cx="7200000" cy="2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ES" sz="14000" b="0">
                <a:solidFill>
                  <a:srgbClr val="27AA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 de 3</a:t>
            </a:r>
          </a:p>
        </p:txBody>
      </p:sp>
      <p:sp>
        <p:nvSpPr>
          <p:cNvPr id="904" name="Texto 904"/>
          <p:cNvSpPr txBox="1"/>
          <p:nvPr/>
        </p:nvSpPr>
        <p:spPr>
          <a:xfrm>
            <a:off x="8200000" y="6900000"/>
            <a:ext cx="72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ES" sz="38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habló con nadie</a:t>
            </a:r>
          </a:p>
        </p:txBody>
      </p:sp>
      <p:sp>
        <p:nvSpPr>
          <p:cNvPr id="905" name="Texto 905"/>
          <p:cNvSpPr txBox="1"/>
          <p:nvPr/>
        </p:nvSpPr>
        <p:spPr>
          <a:xfrm>
            <a:off x="650000" y="8900000"/>
            <a:ext cx="150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ES" sz="36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Y las apps de bienestar están pensadas para adultos: rachas, metas y recordatorios que convierten cuidarse en otra obligación.</a:t>
            </a:r>
          </a:p>
        </p:txBody>
      </p:sp>
      <p:pic>
        <p:nvPicPr>
          <p:cNvPr id="906" name="Igel triste" descr="Igel tris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0350" y="9063225"/>
            <a:ext cx="3600000" cy="3600000"/>
          </a:xfrm>
          <a:prstGeom prst="rect">
            <a:avLst/>
          </a:prstGeom>
          <a:ln>
            <a:noFill/>
          </a:ln>
        </p:spPr>
      </p:pic>
      <p:grpSp>
        <p:nvGrpSpPr>
          <p:cNvPr id="150" name="Google Shape;150;p4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51" name="Google Shape;151;p4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2" name="Google Shape;152;p4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/>
          <p:nvPr/>
        </p:nvSpPr>
        <p:spPr>
          <a:xfrm>
            <a:off x="0" y="150"/>
            <a:ext cx="21336000" cy="13335000"/>
          </a:xfrm>
          <a:prstGeom prst="rect">
            <a:avLst/>
          </a:prstGeom>
          <a:solidFill>
            <a:srgbClr val="1818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70373" y="3000000"/>
            <a:ext cx="8944800" cy="9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4264F6"/>
              </a:buClr>
              <a:buSzPts val="68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FBDC49"/>
                </a:solidFill>
                <a:latin typeface="Source Serif 4 Medium"/>
                <a:ea typeface="Source Serif 4 Medium"/>
                <a:cs typeface="Source Serif 4 Medium"/>
                <a:sym typeface="Source Serif 4 Medium"/>
              </a:rPr>
              <a:t>Usuario</a:t>
            </a:r>
            <a:endParaRPr sz="4800" b="0" i="0" u="none" strike="noStrike" cap="none">
              <a:solidFill>
                <a:srgbClr val="FBDC49"/>
              </a:solidFill>
              <a:latin typeface="Source Serif 4 Medium"/>
              <a:ea typeface="Source Serif 4 Medium"/>
              <a:cs typeface="Source Serif 4 Medium"/>
              <a:sym typeface="Source Serif 4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4264F6"/>
              </a:buClr>
              <a:buSzPts val="68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FBDC49"/>
                </a:solidFill>
                <a:latin typeface="Source Serif 4 Medium"/>
                <a:ea typeface="Source Serif 4 Medium"/>
                <a:cs typeface="Source Serif 4 Medium"/>
                <a:sym typeface="Source Serif 4 Medium"/>
              </a:rPr>
              <a:t>Jóvenes de 13 a 25 años que estudian y conviven con la presión del día a día.</a:t>
            </a:r>
            <a:endParaRPr sz="4800" b="0" i="0" u="none" strike="noStrike" cap="none">
              <a:solidFill>
                <a:srgbClr val="FBDC49"/>
              </a:solidFill>
              <a:latin typeface="Source Serif 4 Medium"/>
              <a:ea typeface="Source Serif 4 Medium"/>
              <a:cs typeface="Source Serif 4 Medium"/>
              <a:sym typeface="Source Serif 4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4264F6"/>
              </a:buClr>
              <a:buSzPts val="6800"/>
              <a:buFont typeface="Helvetica Neue"/>
              <a:buNone/>
            </a:pPr>
            <a:r>
              <a:rPr lang="en-US" sz="5500" b="0" i="0" u="none" strike="noStrike" cap="none">
                <a:solidFill>
                  <a:srgbClr val="27AAE2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 preguntamos qué necesitaban: algo que no juzgue, que no exija y que hable su idioma.</a:t>
            </a:r>
            <a:endParaRPr sz="5500" b="0" i="0" u="none" strike="noStrike" cap="none">
              <a:solidFill>
                <a:srgbClr val="27AAE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160" name="Google Shape;160;p3"/>
          <p:cNvCxnSpPr/>
          <p:nvPr/>
        </p:nvCxnSpPr>
        <p:spPr>
          <a:xfrm>
            <a:off x="934432" y="2600000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FBDC49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61" name="Google Shape;161;p3"/>
          <p:cNvSpPr/>
          <p:nvPr/>
        </p:nvSpPr>
        <p:spPr>
          <a:xfrm>
            <a:off x="9815175" y="960725"/>
            <a:ext cx="11520900" cy="12374400"/>
          </a:xfrm>
          <a:prstGeom prst="rect">
            <a:avLst/>
          </a:prstGeom>
          <a:solidFill>
            <a:srgbClr val="5D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Onboarding: idioma" descr="Onboarding: idiom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312" y="2045000"/>
            <a:ext cx="4805687" cy="104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pic>
        <p:nvPicPr>
          <p:cNvPr id="902" name="Onboarding: pregunta" descr="Onboarding: pregun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25000" y="2045000"/>
            <a:ext cx="4805687" cy="104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grpSp>
        <p:nvGrpSpPr>
          <p:cNvPr id="162" name="Google Shape;162;p3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63" name="Google Shape;163;p3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3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027dcdef_0_1"/>
          <p:cNvSpPr/>
          <p:nvPr/>
        </p:nvSpPr>
        <p:spPr>
          <a:xfrm>
            <a:off x="606150" y="2094550"/>
            <a:ext cx="100000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5DD8D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Nuestra idea</a:t>
            </a:r>
            <a:endParaRPr sz="4200" b="1" i="0" u="none" strike="noStrike" cap="none">
              <a:solidFill>
                <a:srgbClr val="5DD8D5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sp>
        <p:nvSpPr>
          <p:cNvPr id="171" name="Google Shape;171;g3af027dcdef_0_1"/>
          <p:cNvSpPr/>
          <p:nvPr/>
        </p:nvSpPr>
        <p:spPr>
          <a:xfrm>
            <a:off x="16630350" y="8969350"/>
            <a:ext cx="4137600" cy="38151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af027dcdef_0_1"/>
          <p:cNvCxnSpPr/>
          <p:nvPr/>
        </p:nvCxnSpPr>
        <p:spPr>
          <a:xfrm>
            <a:off x="687507" y="1838121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5DD8D5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74" name="Google Shape;174;g3af027dcdef_0_1"/>
          <p:cNvSpPr/>
          <p:nvPr/>
        </p:nvSpPr>
        <p:spPr>
          <a:xfrm>
            <a:off x="617445" y="3079799"/>
            <a:ext cx="153000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Lagun es una app gratuita donde Igel, una rana compañera, te ayuda a entender cómo te sientes: guardas tus emociones en una jarra, hablas con una IA preparada para cada tema y encuentras herramientas para cuatro áreas de tu vida.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01" name="Igel tranquilo" descr="Igel tranquil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0350" y="9139350"/>
            <a:ext cx="3600000" cy="3600000"/>
          </a:xfrm>
          <a:prstGeom prst="rect">
            <a:avLst/>
          </a:prstGeom>
          <a:ln>
            <a:noFill/>
          </a:ln>
        </p:spPr>
      </p:pic>
      <p:sp>
        <p:nvSpPr>
          <p:cNvPr id="902" name="Estudios"/>
          <p:cNvSpPr/>
          <p:nvPr/>
        </p:nvSpPr>
        <p:spPr>
          <a:xfrm>
            <a:off x="650000" y="9900000"/>
            <a:ext cx="3400000" cy="1500000"/>
          </a:xfrm>
          <a:prstGeom prst="roundRect">
            <a:avLst>
              <a:gd name="adj" fmla="val 50000"/>
            </a:avLst>
          </a:prstGeom>
          <a:solidFill>
            <a:srgbClr val="FBDC4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6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Estudios</a:t>
            </a:r>
          </a:p>
        </p:txBody>
      </p:sp>
      <p:sp>
        <p:nvSpPr>
          <p:cNvPr id="903" name="Social"/>
          <p:cNvSpPr/>
          <p:nvPr/>
        </p:nvSpPr>
        <p:spPr>
          <a:xfrm>
            <a:off x="4500000" y="9900000"/>
            <a:ext cx="3400000" cy="1500000"/>
          </a:xfrm>
          <a:prstGeom prst="roundRect">
            <a:avLst>
              <a:gd name="adj" fmla="val 50000"/>
            </a:avLst>
          </a:prstGeom>
          <a:solidFill>
            <a:srgbClr val="5DD8D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6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Social</a:t>
            </a:r>
          </a:p>
        </p:txBody>
      </p:sp>
      <p:sp>
        <p:nvSpPr>
          <p:cNvPr id="904" name="Familia"/>
          <p:cNvSpPr/>
          <p:nvPr/>
        </p:nvSpPr>
        <p:spPr>
          <a:xfrm>
            <a:off x="8350000" y="9900000"/>
            <a:ext cx="3400000" cy="1500000"/>
          </a:xfrm>
          <a:prstGeom prst="roundRect">
            <a:avLst>
              <a:gd name="adj" fmla="val 50000"/>
            </a:avLst>
          </a:prstGeom>
          <a:solidFill>
            <a:srgbClr val="FF83C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6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Familia</a:t>
            </a:r>
          </a:p>
        </p:txBody>
      </p:sp>
      <p:sp>
        <p:nvSpPr>
          <p:cNvPr id="905" name="Identidad"/>
          <p:cNvSpPr/>
          <p:nvPr/>
        </p:nvSpPr>
        <p:spPr>
          <a:xfrm>
            <a:off x="12200000" y="9900000"/>
            <a:ext cx="3400000" cy="1500000"/>
          </a:xfrm>
          <a:prstGeom prst="roundRect">
            <a:avLst>
              <a:gd name="adj" fmla="val 50000"/>
            </a:avLst>
          </a:prstGeom>
          <a:solidFill>
            <a:srgbClr val="A7E3F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6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Identidad</a:t>
            </a:r>
          </a:p>
        </p:txBody>
      </p:sp>
      <p:grpSp>
        <p:nvGrpSpPr>
          <p:cNvPr id="175" name="Google Shape;175;g3af027dcdef_0_1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76" name="Google Shape;176;g3af027dcdef_0_1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g3af027dcdef_0_1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g3af027dcdef_0_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f027dcdef_0_7"/>
          <p:cNvSpPr/>
          <p:nvPr/>
        </p:nvSpPr>
        <p:spPr>
          <a:xfrm>
            <a:off x="2500000" y="1581875"/>
            <a:ext cx="16335999" cy="9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9B76E"/>
              </a:buClr>
              <a:buSzPts val="90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¿Qué hace diferente a Lagun?</a:t>
            </a:r>
            <a:endParaRPr sz="4800" b="0" i="0" u="none" strike="noStrike" cap="none">
              <a:solidFill>
                <a:srgbClr val="18183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4" name="Google Shape;184;g3af027dcdef_0_7"/>
          <p:cNvSpPr/>
          <p:nvPr/>
        </p:nvSpPr>
        <p:spPr>
          <a:xfrm>
            <a:off x="4609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FBDC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Sin presión</a:t>
            </a:r>
            <a:endParaRPr sz="1400" b="0" i="0" u="none" strike="noStrike" cap="none">
              <a:solidFill>
                <a:srgbClr val="FBDC4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5" name="Google Shape;185;g3af027dcdef_0_7"/>
          <p:cNvSpPr/>
          <p:nvPr/>
        </p:nvSpPr>
        <p:spPr>
          <a:xfrm>
            <a:off x="9609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Sin rachas, sin notas, sin culpa. Entras cuando lo necesitas.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86" name="Google Shape;186;g3af027dcdef_0_7"/>
          <p:cNvSpPr/>
          <p:nvPr/>
        </p:nvSpPr>
        <p:spPr>
          <a:xfrm>
            <a:off x="1911550" y="2621943"/>
            <a:ext cx="170703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Cuidarse sin que se convierta en otra obligación</a:t>
            </a:r>
            <a:endParaRPr sz="3800" b="0" i="0" u="none" strike="noStrike" cap="none">
              <a:solidFill>
                <a:srgbClr val="444447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87" name="Google Shape;187;g3af027dcdef_0_7"/>
          <p:cNvSpPr/>
          <p:nvPr/>
        </p:nvSpPr>
        <p:spPr>
          <a:xfrm>
            <a:off x="0" y="4048678"/>
            <a:ext cx="7112100" cy="5824500"/>
          </a:xfrm>
          <a:prstGeom prst="rect">
            <a:avLst/>
          </a:prstGeom>
          <a:solidFill>
            <a:srgbClr val="FBDC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f027dcdef_0_7"/>
          <p:cNvSpPr/>
          <p:nvPr/>
        </p:nvSpPr>
        <p:spPr>
          <a:xfrm>
            <a:off x="7111888" y="4048678"/>
            <a:ext cx="7112100" cy="5824500"/>
          </a:xfrm>
          <a:prstGeom prst="rect">
            <a:avLst/>
          </a:prstGeom>
          <a:solidFill>
            <a:srgbClr val="5D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af027dcdef_0_7"/>
          <p:cNvSpPr/>
          <p:nvPr/>
        </p:nvSpPr>
        <p:spPr>
          <a:xfrm>
            <a:off x="14223879" y="4048678"/>
            <a:ext cx="7112100" cy="5824500"/>
          </a:xfrm>
          <a:prstGeom prst="rect">
            <a:avLst/>
          </a:prstGeom>
          <a:solidFill>
            <a:srgbClr val="FF83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af027dcdef_0_7"/>
          <p:cNvSpPr/>
          <p:nvPr/>
        </p:nvSpPr>
        <p:spPr>
          <a:xfrm>
            <a:off x="75728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5DD8D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IA que te entiende</a:t>
            </a:r>
            <a:endParaRPr sz="1400" b="0" i="0" u="none" strike="noStrike" cap="none">
              <a:solidFill>
                <a:srgbClr val="5DD8D5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1" name="Google Shape;191;g3af027dcdef_0_7"/>
          <p:cNvSpPr/>
          <p:nvPr/>
        </p:nvSpPr>
        <p:spPr>
          <a:xfrm>
            <a:off x="80728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Especializada en cada tema y conecta tus exámenes con tu ánimo.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92" name="Google Shape;192;g3af027dcdef_0_7"/>
          <p:cNvSpPr/>
          <p:nvPr/>
        </p:nvSpPr>
        <p:spPr>
          <a:xfrm>
            <a:off x="146847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FF83C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Seguridad primero</a:t>
            </a:r>
            <a:endParaRPr sz="1400" b="0" i="0" u="none" strike="noStrike" cap="none">
              <a:solidFill>
                <a:srgbClr val="FF83C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3" name="Google Shape;193;g3af027dcdef_0_7"/>
          <p:cNvSpPr/>
          <p:nvPr/>
        </p:nvSpPr>
        <p:spPr>
          <a:xfrm>
            <a:off x="151847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Detecta señales de crisis y muestra ayuda real al momento.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pic>
        <p:nvPicPr>
          <p:cNvPr id="901" name="Igel dormido" descr="Igel dormi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50" y="4610928"/>
            <a:ext cx="4700000" cy="4700000"/>
          </a:xfrm>
          <a:prstGeom prst="rect">
            <a:avLst/>
          </a:prstGeom>
          <a:ln>
            <a:noFill/>
          </a:ln>
        </p:spPr>
      </p:pic>
      <p:pic>
        <p:nvPicPr>
          <p:cNvPr id="902" name="Igel estudiando" descr="Igel estudian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938" y="4610928"/>
            <a:ext cx="4700000" cy="4700000"/>
          </a:xfrm>
          <a:prstGeom prst="rect">
            <a:avLst/>
          </a:prstGeom>
          <a:ln>
            <a:noFill/>
          </a:ln>
        </p:spPr>
      </p:pic>
      <p:pic>
        <p:nvPicPr>
          <p:cNvPr id="903" name="Igel feliz" descr="Igel feliz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9826" y="4610928"/>
            <a:ext cx="4700000" cy="4700000"/>
          </a:xfrm>
          <a:prstGeom prst="rect">
            <a:avLst/>
          </a:prstGeom>
          <a:ln>
            <a:noFill/>
          </a:ln>
        </p:spPr>
      </p:pic>
      <p:grpSp>
        <p:nvGrpSpPr>
          <p:cNvPr id="200" name="Google Shape;200;g3af027dcdef_0_7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01" name="Google Shape;201;g3af027dcdef_0_7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g3af027dcdef_0_7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g3af027dcdef_0_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027dcdef_0_22"/>
          <p:cNvSpPr/>
          <p:nvPr/>
        </p:nvSpPr>
        <p:spPr>
          <a:xfrm>
            <a:off x="606150" y="2024248"/>
            <a:ext cx="53028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FF2478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Modelo de negocio de impacto</a:t>
            </a:r>
            <a:endParaRPr sz="4200" b="1" i="0" u="none" strike="noStrike" cap="none">
              <a:solidFill>
                <a:srgbClr val="FF2478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sp>
        <p:nvSpPr>
          <p:cNvPr id="209" name="Google Shape;209;g3af027dcdef_0_22"/>
          <p:cNvSpPr/>
          <p:nvPr/>
        </p:nvSpPr>
        <p:spPr>
          <a:xfrm>
            <a:off x="16630350" y="8969350"/>
            <a:ext cx="4137600" cy="3815100"/>
          </a:xfrm>
          <a:prstGeom prst="rect">
            <a:avLst/>
          </a:prstGeom>
          <a:solidFill>
            <a:srgbClr val="5D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g3af027dcdef_0_22"/>
          <p:cNvCxnSpPr/>
          <p:nvPr/>
        </p:nvCxnSpPr>
        <p:spPr>
          <a:xfrm>
            <a:off x="687507" y="1830217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FF2478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12" name="Google Shape;212;g3af027dcdef_0_22"/>
          <p:cNvSpPr/>
          <p:nvPr/>
        </p:nvSpPr>
        <p:spPr>
          <a:xfrm>
            <a:off x="758550" y="3765600"/>
            <a:ext cx="14600000" cy="8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Gratis para siempre para jóvenes: sin anuncios ni pagos. La tienda de Igel funciona con puntos que ganas cuidándote, no con dinero.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Exploramos licencias para institutos y ayuntamientos, con un panel anónimo de cómo está su alumnado, y el apoyo de fundaciones y convocatorias de impacto.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Costes muy bajos: la IA y los servidores tienen planes gratuitos para empezar.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01" name="Igel corona" descr="Igel coron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0350" y="9139350"/>
            <a:ext cx="3600000" cy="3600000"/>
          </a:xfrm>
          <a:prstGeom prst="rect">
            <a:avLst/>
          </a:prstGeom>
          <a:ln>
            <a:noFill/>
          </a:ln>
        </p:spPr>
      </p:pic>
      <p:grpSp>
        <p:nvGrpSpPr>
          <p:cNvPr id="213" name="Google Shape;213;g3af027dcdef_0_22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14" name="Google Shape;214;g3af027dcdef_0_22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" name="Google Shape;215;g3af027dcdef_0_22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g3af027dcdef_0_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458572ba6_0_0"/>
          <p:cNvSpPr/>
          <p:nvPr/>
        </p:nvSpPr>
        <p:spPr>
          <a:xfrm>
            <a:off x="606150" y="3689400"/>
            <a:ext cx="15200000" cy="8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UNICEF: validar el enfoque con jóvenes y llegar a los centros educativos.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Psicólogos: revisar los contenidos y las respuestas de la IA.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Institutos y AMPAs: hacer pilotos reales con alumnado.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Servicios de ayuda como el 024 o la Fundación ANAR: derivar los casos de riesgo.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Asociaciones juveniles: diseñar la app junto a quienes la usan.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2" name="Google Shape;222;g3f458572ba6_0_0"/>
          <p:cNvSpPr/>
          <p:nvPr/>
        </p:nvSpPr>
        <p:spPr>
          <a:xfrm>
            <a:off x="16630350" y="8969350"/>
            <a:ext cx="4137600" cy="3815100"/>
          </a:xfrm>
          <a:prstGeom prst="rect">
            <a:avLst/>
          </a:prstGeom>
          <a:solidFill>
            <a:srgbClr val="FF83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83C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458572ba6_0_0"/>
          <p:cNvSpPr/>
          <p:nvPr/>
        </p:nvSpPr>
        <p:spPr>
          <a:xfrm>
            <a:off x="758550" y="2176653"/>
            <a:ext cx="53028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27AAE2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Aliados/</a:t>
            </a:r>
            <a:endParaRPr sz="4200" b="1" i="0" u="none" strike="noStrike" cap="none">
              <a:solidFill>
                <a:srgbClr val="27AAE2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27AAE2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Partner Social</a:t>
            </a:r>
            <a:endParaRPr sz="4200" b="1" i="0" u="none" strike="noStrike" cap="none">
              <a:solidFill>
                <a:srgbClr val="27AAE2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cxnSp>
        <p:nvCxnSpPr>
          <p:cNvPr id="225" name="Google Shape;225;g3f458572ba6_0_0"/>
          <p:cNvCxnSpPr/>
          <p:nvPr/>
        </p:nvCxnSpPr>
        <p:spPr>
          <a:xfrm>
            <a:off x="839907" y="1982621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27AAE2"/>
            </a:solidFill>
            <a:prstDash val="solid"/>
            <a:miter lim="0"/>
            <a:headEnd type="none" w="sm" len="sm"/>
            <a:tailEnd type="none" w="sm" len="sm"/>
          </a:ln>
        </p:spPr>
      </p:cxnSp>
      <p:pic>
        <p:nvPicPr>
          <p:cNvPr id="901" name="Igel flores" descr="Igel flor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0350" y="9139350"/>
            <a:ext cx="3600000" cy="3600000"/>
          </a:xfrm>
          <a:prstGeom prst="rect">
            <a:avLst/>
          </a:prstGeom>
          <a:ln>
            <a:noFill/>
          </a:ln>
        </p:spPr>
      </p:pic>
      <p:grpSp>
        <p:nvGrpSpPr>
          <p:cNvPr id="226" name="Google Shape;226;g3f458572ba6_0_0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27" name="Google Shape;227;g3f458572ba6_0_0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8" name="Google Shape;228;g3f458572ba6_0_0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g3f458572ba6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1911545" y="2750000"/>
            <a:ext cx="170703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Lagun ya funciona. Ahora toca probarlo con jóvenes reales.</a:t>
            </a:r>
            <a:endParaRPr sz="3800" b="0" i="0" u="none" strike="noStrike" cap="none">
              <a:solidFill>
                <a:srgbClr val="444447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60900" y="108460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FF247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Validar</a:t>
            </a:r>
            <a:endParaRPr sz="1400" b="0" i="0" u="none" strike="noStrike" cap="none">
              <a:solidFill>
                <a:srgbClr val="FF247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60900" y="11721352"/>
            <a:ext cx="57900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Meses 1-2: revisar contenidos e IA con psicólogos y jóvenes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0" y="4734478"/>
            <a:ext cx="7112100" cy="5824500"/>
          </a:xfrm>
          <a:prstGeom prst="rect">
            <a:avLst/>
          </a:prstGeom>
          <a:solidFill>
            <a:srgbClr val="FF24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111888" y="4734478"/>
            <a:ext cx="7112100" cy="58245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4223879" y="4734478"/>
            <a:ext cx="7112100" cy="5824500"/>
          </a:xfrm>
          <a:prstGeom prst="rect">
            <a:avLst/>
          </a:prstGeom>
          <a:solidFill>
            <a:srgbClr val="0279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572800" y="108460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27AA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Piloto</a:t>
            </a:r>
            <a:endParaRPr sz="1400" b="0" i="0" u="none" strike="noStrike" cap="none">
              <a:solidFill>
                <a:srgbClr val="27AAE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772800" y="11721352"/>
            <a:ext cx="57900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Meses 3-5: probarlo en 2 o 3 institutos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4684700" y="108460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0279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Medir y crecer</a:t>
            </a:r>
            <a:endParaRPr sz="1400" b="0" i="0" u="none" strike="noStrike" cap="none">
              <a:solidFill>
                <a:srgbClr val="02795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4884700" y="11721352"/>
            <a:ext cx="57900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Mes 6: comparar el ánimo antes y después y llegar a más centros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113175" y="1581875"/>
            <a:ext cx="11331900" cy="9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9B76E"/>
              </a:buClr>
              <a:buSzPts val="90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Próximos pasos</a:t>
            </a:r>
            <a:endParaRPr sz="4800" b="0" i="0" u="none" strike="noStrike" cap="none">
              <a:solidFill>
                <a:srgbClr val="18183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01" name="Igel tranquilo" descr="Igel tranquil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50" y="5296728"/>
            <a:ext cx="4700000" cy="4700000"/>
          </a:xfrm>
          <a:prstGeom prst="rect">
            <a:avLst/>
          </a:prstGeom>
          <a:ln>
            <a:noFill/>
          </a:ln>
        </p:spPr>
      </p:pic>
      <p:pic>
        <p:nvPicPr>
          <p:cNvPr id="902" name="Igel emocionado" descr="Igel emociona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938" y="5296728"/>
            <a:ext cx="4700000" cy="4700000"/>
          </a:xfrm>
          <a:prstGeom prst="rect">
            <a:avLst/>
          </a:prstGeom>
          <a:ln>
            <a:noFill/>
          </a:ln>
        </p:spPr>
      </p:pic>
      <p:pic>
        <p:nvPicPr>
          <p:cNvPr id="903" name="Igel arcoiris" descr="Igel arcoiri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9826" y="5296728"/>
            <a:ext cx="4700000" cy="4700000"/>
          </a:xfrm>
          <a:prstGeom prst="rect">
            <a:avLst/>
          </a:prstGeom>
          <a:ln>
            <a:noFill/>
          </a:ln>
        </p:spPr>
      </p:pic>
      <p:grpSp>
        <p:nvGrpSpPr>
          <p:cNvPr id="251" name="Google Shape;251;p11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52" name="Google Shape;252;p11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3" name="Google Shape;253;p11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f027dcdef_0_44"/>
          <p:cNvSpPr/>
          <p:nvPr/>
        </p:nvSpPr>
        <p:spPr>
          <a:xfrm>
            <a:off x="-78600" y="-27275"/>
            <a:ext cx="21493200" cy="133623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highlight>
                <a:srgbClr val="27AAE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af027dcdef_0_44"/>
          <p:cNvSpPr/>
          <p:nvPr/>
        </p:nvSpPr>
        <p:spPr>
          <a:xfrm>
            <a:off x="829025" y="1790704"/>
            <a:ext cx="184122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9C0"/>
              </a:buClr>
              <a:buSzPts val="9600"/>
              <a:buFont typeface="Helvetica Neue"/>
              <a:buNone/>
            </a:pPr>
            <a:r>
              <a:rPr lang="en-US" sz="7600" b="0" i="0" u="none" strike="noStrike" cap="none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Lo que sientes </a:t>
            </a:r>
            <a:r>
              <a:rPr lang="en-US" sz="7600" b="0" i="0" u="none" strike="noStrike" cap="none">
                <a:solidFill>
                  <a:srgbClr val="181832"/>
                </a:solidFill>
                <a:highlight>
                  <a:srgbClr val="FBDC49"/>
                </a:highlight>
                <a:latin typeface="Poppins Light"/>
                <a:ea typeface="Poppins Light"/>
                <a:cs typeface="Poppins Light"/>
                <a:sym typeface="Poppins Light"/>
              </a:rPr>
              <a:t>importa</a:t>
            </a:r>
            <a:r>
              <a:rPr lang="en-US" sz="7600" b="0" i="0" u="none" strike="noStrike" cap="none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 xml:space="preserve">. Aquí tienes </a:t>
            </a:r>
            <a:r>
              <a:rPr lang="en-US" sz="7600" b="0" i="0" u="none" strike="noStrike" cap="none">
                <a:solidFill>
                  <a:srgbClr val="181832"/>
                </a:solidFill>
                <a:highlight>
                  <a:srgbClr val="FF83C4"/>
                </a:highlight>
                <a:latin typeface="Poppins Light"/>
                <a:ea typeface="Poppins Light"/>
                <a:cs typeface="Poppins Light"/>
                <a:sym typeface="Poppins Light"/>
              </a:rPr>
              <a:t>tu espacio</a:t>
            </a:r>
            <a:r>
              <a:rPr lang="en-US" sz="7600" b="0" i="0" u="none" strike="noStrike" cap="none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8500" b="0" i="1" u="none" strike="noStrike" cap="none">
              <a:solidFill>
                <a:srgbClr val="DE317D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261" name="Google Shape;261;g3af027dcdef_0_44"/>
          <p:cNvSpPr/>
          <p:nvPr/>
        </p:nvSpPr>
        <p:spPr>
          <a:xfrm>
            <a:off x="829025" y="4750000"/>
            <a:ext cx="171507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5D1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181832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Pedimos a UNICEF Lab Junior que nos acompañe en el piloto para que Lagun llegue a los institutos.</a:t>
            </a:r>
            <a:endParaRPr sz="1400" b="0" i="0" u="none" strike="noStrike" cap="none">
              <a:solidFill>
                <a:srgbClr val="181832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pic>
        <p:nvPicPr>
          <p:cNvPr id="901" name="Igel feliz" descr="Igel feliz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00" y="7600000"/>
            <a:ext cx="3000000" cy="3000000"/>
          </a:xfrm>
          <a:prstGeom prst="rect">
            <a:avLst/>
          </a:prstGeom>
          <a:ln>
            <a:noFill/>
          </a:ln>
        </p:spPr>
      </p:pic>
      <p:pic>
        <p:nvPicPr>
          <p:cNvPr id="902" name="Igel emocionado" descr="Igel emociona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8000" y="7600000"/>
            <a:ext cx="3000000" cy="3000000"/>
          </a:xfrm>
          <a:prstGeom prst="rect">
            <a:avLst/>
          </a:prstGeom>
          <a:ln>
            <a:noFill/>
          </a:ln>
        </p:spPr>
      </p:pic>
      <p:pic>
        <p:nvPicPr>
          <p:cNvPr id="903" name="Igel invierno" descr="Igel invier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000" y="7600000"/>
            <a:ext cx="3000000" cy="3000000"/>
          </a:xfrm>
          <a:prstGeom prst="rect">
            <a:avLst/>
          </a:prstGeom>
          <a:ln>
            <a:noFill/>
          </a:ln>
        </p:spPr>
      </p:pic>
      <p:pic>
        <p:nvPicPr>
          <p:cNvPr id="904" name="Igel corona" descr="Igel coron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8000" y="7600000"/>
            <a:ext cx="3000000" cy="3000000"/>
          </a:xfrm>
          <a:prstGeom prst="rect">
            <a:avLst/>
          </a:prstGeom>
          <a:ln>
            <a:noFill/>
          </a:ln>
        </p:spPr>
      </p:pic>
      <p:pic>
        <p:nvPicPr>
          <p:cNvPr id="905" name="Igel nenufar" descr="Igel nenuf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48000" y="7600000"/>
            <a:ext cx="3000000" cy="3000000"/>
          </a:xfrm>
          <a:prstGeom prst="rect">
            <a:avLst/>
          </a:prstGeom>
          <a:ln>
            <a:noFill/>
          </a:ln>
        </p:spPr>
      </p:pic>
      <p:pic>
        <p:nvPicPr>
          <p:cNvPr id="906" name="Igel arcoiris" descr="Igel arcoiri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68000" y="7600000"/>
            <a:ext cx="3000000" cy="3000000"/>
          </a:xfrm>
          <a:prstGeom prst="rect">
            <a:avLst/>
          </a:prstGeom>
          <a:ln>
            <a:noFill/>
          </a:ln>
        </p:spPr>
      </p:pic>
      <p:grpSp>
        <p:nvGrpSpPr>
          <p:cNvPr id="264" name="Google Shape;264;g3af027dcdef_0_44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65" name="Google Shape;265;g3af027dcdef_0_44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g3af027dcdef_0_44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g3af027dcdef_0_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/>
          <p:nvPr/>
        </p:nvSpPr>
        <p:spPr>
          <a:xfrm>
            <a:off x="-119758" y="-207014"/>
            <a:ext cx="21575400" cy="13535100"/>
          </a:xfrm>
          <a:prstGeom prst="rect">
            <a:avLst/>
          </a:prstGeom>
          <a:solidFill>
            <a:srgbClr val="FBDC4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highlight>
                <a:srgbClr val="5DD8D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456682" y="5295899"/>
            <a:ext cx="18422636" cy="274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D90"/>
              </a:buClr>
              <a:buSzPts val="17400"/>
              <a:buFont typeface="Helvetica Neue"/>
              <a:buNone/>
            </a:pPr>
            <a:r>
              <a:rPr lang="en-US" sz="16600" b="0" i="0" u="none" strike="noStrike" cap="none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¡Muchas gracias!</a:t>
            </a:r>
            <a:endParaRPr sz="600" b="0" i="0" u="none" strike="noStrike" cap="none">
              <a:solidFill>
                <a:srgbClr val="18183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74" name="Google Shape;274;p13" title="LL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0075" y="10686017"/>
            <a:ext cx="7495849" cy="1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Igel emocionado" descr="Igel emocion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000" y="1000000"/>
            <a:ext cx="4200000" cy="420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027dcdef_0_1"/>
          <p:cNvSpPr/>
          <p:nvPr/>
        </p:nvSpPr>
        <p:spPr>
          <a:xfrm>
            <a:off x="606150" y="2094550"/>
            <a:ext cx="100000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5DD8D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Así funciona</a:t>
            </a:r>
            <a:endParaRPr sz="4200" b="1" i="0" u="none" strike="noStrike" cap="none">
              <a:solidFill>
                <a:srgbClr val="5DD8D5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cxnSp>
        <p:nvCxnSpPr>
          <p:cNvPr id="173" name="Google Shape;173;g3af027dcdef_0_1"/>
          <p:cNvCxnSpPr/>
          <p:nvPr/>
        </p:nvCxnSpPr>
        <p:spPr>
          <a:xfrm>
            <a:off x="687507" y="1838121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5DD8D5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74" name="Google Shape;174;g3af027dcdef_0_1"/>
          <p:cNvSpPr/>
          <p:nvPr/>
        </p:nvSpPr>
        <p:spPr>
          <a:xfrm>
            <a:off x="617445" y="3079799"/>
            <a:ext cx="170703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día cualquiera con Igel.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01" name="Inicio por áreas" descr="Inicio por áreas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788379" y="4250000"/>
            <a:ext cx="3511848" cy="76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sp>
        <p:nvSpPr>
          <p:cNvPr id="902" name="Texto 902"/>
          <p:cNvSpPr txBox="1"/>
          <p:nvPr/>
        </p:nvSpPr>
        <p:spPr>
          <a:xfrm>
            <a:off x="488379" y="12050000"/>
            <a:ext cx="4111848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27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Inicio por áreas</a:t>
            </a:r>
          </a:p>
        </p:txBody>
      </p:sp>
      <p:pic>
        <p:nvPicPr>
          <p:cNvPr id="903" name="Jarra de emociones" descr="Jarra de emociones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850227" y="4250000"/>
            <a:ext cx="3511848" cy="76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sp>
        <p:nvSpPr>
          <p:cNvPr id="904" name="Texto 904"/>
          <p:cNvSpPr txBox="1"/>
          <p:nvPr/>
        </p:nvSpPr>
        <p:spPr>
          <a:xfrm>
            <a:off x="4550227" y="12050000"/>
            <a:ext cx="4111848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27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Jarra de emociones</a:t>
            </a:r>
          </a:p>
        </p:txBody>
      </p:sp>
      <p:pic>
        <p:nvPicPr>
          <p:cNvPr id="905" name="Chat con Igel" descr="Chat con Igel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912075" y="4250000"/>
            <a:ext cx="3511848" cy="76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sp>
        <p:nvSpPr>
          <p:cNvPr id="906" name="Texto 906"/>
          <p:cNvSpPr txBox="1"/>
          <p:nvPr/>
        </p:nvSpPr>
        <p:spPr>
          <a:xfrm>
            <a:off x="8612075" y="12050000"/>
            <a:ext cx="4111848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27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Chat con Igel</a:t>
            </a:r>
          </a:p>
        </p:txBody>
      </p:sp>
      <p:pic>
        <p:nvPicPr>
          <p:cNvPr id="907" name="Exámenes y ánimo" descr="Exámenes y ánimo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2973924" y="4250000"/>
            <a:ext cx="3511848" cy="76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sp>
        <p:nvSpPr>
          <p:cNvPr id="908" name="Texto 908"/>
          <p:cNvSpPr txBox="1"/>
          <p:nvPr/>
        </p:nvSpPr>
        <p:spPr>
          <a:xfrm>
            <a:off x="12673924" y="12050000"/>
            <a:ext cx="4111848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27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Exámenes y ánimo</a:t>
            </a:r>
          </a:p>
        </p:txBody>
      </p:sp>
      <p:pic>
        <p:nvPicPr>
          <p:cNvPr id="909" name="Tu progreso" descr="Tu progreso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17035772" y="4250000"/>
            <a:ext cx="3511848" cy="76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sp>
        <p:nvSpPr>
          <p:cNvPr id="910" name="Texto 910"/>
          <p:cNvSpPr txBox="1"/>
          <p:nvPr/>
        </p:nvSpPr>
        <p:spPr>
          <a:xfrm>
            <a:off x="16735772" y="12050000"/>
            <a:ext cx="4111848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27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 progreso</a:t>
            </a:r>
          </a:p>
        </p:txBody>
      </p:sp>
      <p:grpSp>
        <p:nvGrpSpPr>
          <p:cNvPr id="175" name="Google Shape;175;g3af027dcdef_0_1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76" name="Google Shape;176;g3af027dcdef_0_1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g3af027dcdef_0_1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g3af027dcdef_0_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027dcdef_0_1"/>
          <p:cNvSpPr/>
          <p:nvPr/>
        </p:nvSpPr>
        <p:spPr>
          <a:xfrm>
            <a:off x="606150" y="2094550"/>
            <a:ext cx="100000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5DD8D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Ya funciona</a:t>
            </a:r>
            <a:endParaRPr sz="4200" b="1" i="0" u="none" strike="noStrike" cap="none">
              <a:solidFill>
                <a:srgbClr val="5DD8D5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cxnSp>
        <p:nvCxnSpPr>
          <p:cNvPr id="173" name="Google Shape;173;g3af027dcdef_0_1"/>
          <p:cNvCxnSpPr/>
          <p:nvPr/>
        </p:nvCxnSpPr>
        <p:spPr>
          <a:xfrm>
            <a:off x="687507" y="1838121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5DD8D5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74" name="Google Shape;174;g3af027dcdef_0_1"/>
          <p:cNvSpPr/>
          <p:nvPr/>
        </p:nvSpPr>
        <p:spPr>
          <a:xfrm>
            <a:off x="617445" y="3079799"/>
            <a:ext cx="165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es una idea en papel: Lagun es un prototipo real que se instala en cualquier móvil desde el navegador.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1" name=""/>
          <p:cNvSpPr/>
          <p:nvPr/>
        </p:nvSpPr>
        <p:spPr>
          <a:xfrm>
            <a:off x="1068000" y="5600000"/>
            <a:ext cx="4500000" cy="5600000"/>
          </a:xfrm>
          <a:prstGeom prst="roundRect">
            <a:avLst>
              <a:gd name="adj" fmla="val 8000"/>
            </a:avLst>
          </a:prstGeom>
          <a:solidFill>
            <a:srgbClr val="FBDC4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0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id="902" name="Texto 902"/>
          <p:cNvSpPr txBox="1"/>
          <p:nvPr/>
        </p:nvSpPr>
        <p:spPr>
          <a:xfrm>
            <a:off x="1068000" y="6000000"/>
            <a:ext cx="45000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id="903" name="Texto 903"/>
          <p:cNvSpPr txBox="1"/>
          <p:nvPr/>
        </p:nvSpPr>
        <p:spPr>
          <a:xfrm>
            <a:off x="1368000" y="9000000"/>
            <a:ext cx="390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32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idiomas</a:t>
            </a:r>
          </a:p>
        </p:txBody>
      </p:sp>
      <p:sp>
        <p:nvSpPr>
          <p:cNvPr id="904" name=""/>
          <p:cNvSpPr/>
          <p:nvPr/>
        </p:nvSpPr>
        <p:spPr>
          <a:xfrm>
            <a:off x="5968000" y="5600000"/>
            <a:ext cx="4500000" cy="5600000"/>
          </a:xfrm>
          <a:prstGeom prst="roundRect">
            <a:avLst>
              <a:gd name="adj" fmla="val 8000"/>
            </a:avLst>
          </a:prstGeom>
          <a:solidFill>
            <a:srgbClr val="5DD8D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0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id="905" name="Texto 905"/>
          <p:cNvSpPr txBox="1"/>
          <p:nvPr/>
        </p:nvSpPr>
        <p:spPr>
          <a:xfrm>
            <a:off x="5968000" y="6000000"/>
            <a:ext cx="45000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sp>
        <p:nvSpPr>
          <p:cNvPr id="906" name="Texto 906"/>
          <p:cNvSpPr txBox="1"/>
          <p:nvPr/>
        </p:nvSpPr>
        <p:spPr>
          <a:xfrm>
            <a:off x="6268000" y="9000000"/>
            <a:ext cx="390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32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áreas de tu vida</a:t>
            </a:r>
          </a:p>
        </p:txBody>
      </p:sp>
      <p:sp>
        <p:nvSpPr>
          <p:cNvPr id="907" name=""/>
          <p:cNvSpPr/>
          <p:nvPr/>
        </p:nvSpPr>
        <p:spPr>
          <a:xfrm>
            <a:off x="10868000" y="5600000"/>
            <a:ext cx="4500000" cy="5600000"/>
          </a:xfrm>
          <a:prstGeom prst="roundRect">
            <a:avLst>
              <a:gd name="adj" fmla="val 8000"/>
            </a:avLst>
          </a:prstGeom>
          <a:solidFill>
            <a:srgbClr val="FF83C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0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id="908" name="Texto 908"/>
          <p:cNvSpPr txBox="1"/>
          <p:nvPr/>
        </p:nvSpPr>
        <p:spPr>
          <a:xfrm>
            <a:off x="10868000" y="6000000"/>
            <a:ext cx="45000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18</a:t>
            </a:r>
          </a:p>
        </p:txBody>
      </p:sp>
      <p:sp>
        <p:nvSpPr>
          <p:cNvPr id="909" name="Texto 909"/>
          <p:cNvSpPr txBox="1"/>
          <p:nvPr/>
        </p:nvSpPr>
        <p:spPr>
          <a:xfrm>
            <a:off x="11168000" y="9000000"/>
            <a:ext cx="390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32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preguntas para conocerte</a:t>
            </a:r>
          </a:p>
        </p:txBody>
      </p:sp>
      <p:sp>
        <p:nvSpPr>
          <p:cNvPr id="910" name=""/>
          <p:cNvSpPr/>
          <p:nvPr/>
        </p:nvSpPr>
        <p:spPr>
          <a:xfrm>
            <a:off x="15768000" y="5600000"/>
            <a:ext cx="4500000" cy="5600000"/>
          </a:xfrm>
          <a:prstGeom prst="roundRect">
            <a:avLst>
              <a:gd name="adj" fmla="val 8000"/>
            </a:avLst>
          </a:prstGeom>
          <a:solidFill>
            <a:srgbClr val="27AAE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00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/>
            </a:r>
          </a:p>
        </p:txBody>
      </p:sp>
      <p:sp>
        <p:nvSpPr>
          <p:cNvPr id="911" name="Texto 911"/>
          <p:cNvSpPr txBox="1"/>
          <p:nvPr/>
        </p:nvSpPr>
        <p:spPr>
          <a:xfrm>
            <a:off x="15768000" y="6000000"/>
            <a:ext cx="45000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</a:t>
            </a:r>
          </a:p>
        </p:txBody>
      </p:sp>
      <p:sp>
        <p:nvSpPr>
          <p:cNvPr id="912" name="Texto 912"/>
          <p:cNvSpPr txBox="1"/>
          <p:nvPr/>
        </p:nvSpPr>
        <p:spPr>
          <a:xfrm>
            <a:off x="16068000" y="9000000"/>
            <a:ext cx="390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3200" b="0">
                <a:solidFill>
                  <a:srgbClr val="181832"/>
                </a:solidFill>
                <a:latin typeface="Poppins Light"/>
                <a:ea typeface="Poppins Light"/>
                <a:cs typeface="Poppins Light"/>
                <a:sym typeface="Poppins Light"/>
              </a:rPr>
              <a:t>rachas y 0 anuncios</a:t>
            </a:r>
          </a:p>
        </p:txBody>
      </p:sp>
      <p:pic>
        <p:nvPicPr>
          <p:cNvPr id="913" name="Igel emocionado" descr="Igel emocionado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8136000" y="2500000"/>
            <a:ext cx="2600000" cy="2600000"/>
          </a:xfrm>
          <a:prstGeom prst="rect">
            <a:avLst/>
          </a:prstGeom>
          <a:ln>
            <a:noFill/>
          </a:ln>
        </p:spPr>
      </p:pic>
      <p:grpSp>
        <p:nvGrpSpPr>
          <p:cNvPr id="175" name="Google Shape;175;g3af027dcdef_0_1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176" name="Google Shape;176;g3af027dcdef_0_1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g3af027dcdef_0_1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g3af027dcdef_0_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458572ba6_0_0"/>
          <p:cNvSpPr/>
          <p:nvPr/>
        </p:nvSpPr>
        <p:spPr>
          <a:xfrm>
            <a:off x="606150" y="3750000"/>
            <a:ext cx="14000000" cy="8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Detecta señales de crisis en cinco idiomas y muestra ayuda inmediata: 024 y 112.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chat es efímero: las conversaciones no se guardan.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Solo usuario y contraseña. Sin email, sin teléfono, sin datos personales.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persona solo puede ver sus propios datos.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Poppins Light"/>
                <a:ea typeface="Poppins Light"/>
                <a:cs typeface="Poppins Light"/>
                <a:sym typeface="Poppins Light"/>
              </a:rPr>
              <a:t>Igel no sustituye a un profesional: anima a pedir ayuda cuando hace falta.</a:t>
            </a:r>
            <a:endParaRPr sz="3800" b="0" i="0" u="none" strike="noStrike" cap="none">
              <a:solidFill>
                <a:srgbClr val="44444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4" name="Google Shape;224;g3f458572ba6_0_0"/>
          <p:cNvSpPr/>
          <p:nvPr/>
        </p:nvSpPr>
        <p:spPr>
          <a:xfrm>
            <a:off x="758550" y="2176653"/>
            <a:ext cx="5302800" cy="1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27AAE2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Seguridad y</a:t>
            </a:r>
            <a:endParaRPr sz="4200" b="1" i="0" u="none" strike="noStrike" cap="none">
              <a:solidFill>
                <a:srgbClr val="27AAE2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4B16E"/>
              </a:buClr>
              <a:buSzPts val="15000"/>
              <a:buFont typeface="Helvetica Neue"/>
              <a:buNone/>
            </a:pPr>
            <a:r>
              <a:rPr lang="en-US" sz="4200" b="1" i="0" u="none" strike="noStrike" cap="none">
                <a:solidFill>
                  <a:srgbClr val="27AAE2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privacidad</a:t>
            </a:r>
            <a:endParaRPr sz="4200" b="1" i="0" u="none" strike="noStrike" cap="none">
              <a:solidFill>
                <a:srgbClr val="27AAE2"/>
              </a:solidFill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  <p:cxnSp>
        <p:nvCxnSpPr>
          <p:cNvPr id="225" name="Google Shape;225;g3f458572ba6_0_0"/>
          <p:cNvCxnSpPr/>
          <p:nvPr/>
        </p:nvCxnSpPr>
        <p:spPr>
          <a:xfrm>
            <a:off x="839907" y="1982621"/>
            <a:ext cx="1776600" cy="0"/>
          </a:xfrm>
          <a:prstGeom prst="straightConnector1">
            <a:avLst/>
          </a:prstGeom>
          <a:noFill/>
          <a:ln w="38100" cap="flat" cmpd="sng">
            <a:solidFill>
              <a:srgbClr val="27AAE2"/>
            </a:solidFill>
            <a:prstDash val="solid"/>
            <a:miter lim="0"/>
            <a:headEnd type="none" w="sm" len="sm"/>
            <a:tailEnd type="none" w="sm" len="sm"/>
          </a:ln>
        </p:spPr>
      </p:cxnSp>
      <p:pic>
        <p:nvPicPr>
          <p:cNvPr id="901" name="Chat: ayuda inmediata" descr="Chat: ayuda inmediata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5453061" y="1650000"/>
            <a:ext cx="5082938" cy="11000000"/>
          </a:xfrm>
          <a:prstGeom prst="roundRect">
            <a:avLst>
              <a:gd name="adj" fmla="val 7000"/>
            </a:avLst>
          </a:prstGeom>
          <a:ln w="38100">
            <a:solidFill>
              <a:srgbClr val="181832"/>
            </a:solidFill>
          </a:ln>
        </p:spPr>
      </p:pic>
      <p:grpSp>
        <p:nvGrpSpPr>
          <p:cNvPr id="226" name="Google Shape;226;g3f458572ba6_0_0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27" name="Google Shape;227;g3f458572ba6_0_0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8" name="Google Shape;228;g3f458572ba6_0_0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g3f458572ba6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f027dcdef_0_7"/>
          <p:cNvSpPr/>
          <p:nvPr/>
        </p:nvSpPr>
        <p:spPr>
          <a:xfrm>
            <a:off x="2500000" y="1581875"/>
            <a:ext cx="16335999" cy="9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9B76E"/>
              </a:buClr>
              <a:buSzPts val="90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Alineado con UNICEF</a:t>
            </a:r>
            <a:endParaRPr sz="4800" b="0" i="0" u="none" strike="noStrike" cap="none">
              <a:solidFill>
                <a:srgbClr val="18183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4" name="Google Shape;184;g3af027dcdef_0_7"/>
          <p:cNvSpPr/>
          <p:nvPr/>
        </p:nvSpPr>
        <p:spPr>
          <a:xfrm>
            <a:off x="4609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FBDC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Salud y bienestar</a:t>
            </a:r>
            <a:endParaRPr sz="1400" b="0" i="0" u="none" strike="noStrike" cap="none">
              <a:solidFill>
                <a:srgbClr val="FBDC4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5" name="Google Shape;185;g3af027dcdef_0_7"/>
          <p:cNvSpPr/>
          <p:nvPr/>
        </p:nvSpPr>
        <p:spPr>
          <a:xfrm>
            <a:off x="9609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Meta 3.4: promover la salud mental y el bienestar.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86" name="Google Shape;186;g3af027dcdef_0_7"/>
          <p:cNvSpPr/>
          <p:nvPr/>
        </p:nvSpPr>
        <p:spPr>
          <a:xfrm>
            <a:off x="1000000" y="2621943"/>
            <a:ext cx="1933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7"/>
              </a:buClr>
              <a:buSzPts val="3800"/>
              <a:buFont typeface="Helvetica Neue"/>
              <a:buNone/>
            </a:pPr>
            <a:r>
              <a:rPr lang="en-US" sz="3800" b="0" i="0" u="none" strike="noStrike" cap="none">
                <a:solidFill>
                  <a:srgbClr val="444447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Objetivos de Desarrollo Sostenible y Convención sobre los Derechos del Niño</a:t>
            </a:r>
            <a:endParaRPr sz="3800" b="0" i="0" u="none" strike="noStrike" cap="none">
              <a:solidFill>
                <a:srgbClr val="444447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87" name="Google Shape;187;g3af027dcdef_0_7"/>
          <p:cNvSpPr/>
          <p:nvPr/>
        </p:nvSpPr>
        <p:spPr>
          <a:xfrm>
            <a:off x="0" y="4048678"/>
            <a:ext cx="7112100" cy="5824500"/>
          </a:xfrm>
          <a:prstGeom prst="rect">
            <a:avLst/>
          </a:prstGeom>
          <a:solidFill>
            <a:srgbClr val="FBDC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f027dcdef_0_7"/>
          <p:cNvSpPr/>
          <p:nvPr/>
        </p:nvSpPr>
        <p:spPr>
          <a:xfrm>
            <a:off x="7111888" y="4048678"/>
            <a:ext cx="7112100" cy="5824500"/>
          </a:xfrm>
          <a:prstGeom prst="rect">
            <a:avLst/>
          </a:prstGeom>
          <a:solidFill>
            <a:srgbClr val="5D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af027dcdef_0_7"/>
          <p:cNvSpPr/>
          <p:nvPr/>
        </p:nvSpPr>
        <p:spPr>
          <a:xfrm>
            <a:off x="14223879" y="4048678"/>
            <a:ext cx="7112100" cy="5824500"/>
          </a:xfrm>
          <a:prstGeom prst="rect">
            <a:avLst/>
          </a:prstGeom>
          <a:solidFill>
            <a:srgbClr val="FF83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af027dcdef_0_7"/>
          <p:cNvSpPr/>
          <p:nvPr/>
        </p:nvSpPr>
        <p:spPr>
          <a:xfrm>
            <a:off x="75728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5DD8D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 escuchado</a:t>
            </a:r>
            <a:endParaRPr sz="1400" b="0" i="0" u="none" strike="noStrike" cap="none">
              <a:solidFill>
                <a:srgbClr val="5DD8D5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1" name="Google Shape;191;g3af027dcdef_0_7"/>
          <p:cNvSpPr/>
          <p:nvPr/>
        </p:nvSpPr>
        <p:spPr>
          <a:xfrm>
            <a:off x="80728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Tu opinión cuenta: tú eliges tus temas y cómo te acompaña.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92" name="Google Shape;192;g3af027dcdef_0_7"/>
          <p:cNvSpPr/>
          <p:nvPr/>
        </p:nvSpPr>
        <p:spPr>
          <a:xfrm>
            <a:off x="14684700" y="10160256"/>
            <a:ext cx="6190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E7E9"/>
              </a:buClr>
              <a:buSzPts val="4200"/>
              <a:buFont typeface="Helvetica Neue"/>
              <a:buNone/>
            </a:pPr>
            <a:r>
              <a:rPr lang="en-US" sz="4200" b="0" i="0" u="none" strike="noStrike" cap="none">
                <a:solidFill>
                  <a:srgbClr val="FF83C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Derecho a la salud</a:t>
            </a:r>
            <a:endParaRPr sz="1400" b="0" i="0" u="none" strike="noStrike" cap="none">
              <a:solidFill>
                <a:srgbClr val="FF83C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3" name="Google Shape;193;g3af027dcdef_0_7"/>
          <p:cNvSpPr/>
          <p:nvPr/>
        </p:nvSpPr>
        <p:spPr>
          <a:xfrm>
            <a:off x="15184700" y="11035552"/>
            <a:ext cx="5190300" cy="1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Apoyo gratuito y acceso a ayuda profesional real.</a:t>
            </a:r>
            <a:endParaRPr sz="2700" b="0" i="0" u="none" strike="noStrike" cap="none">
              <a:solidFill>
                <a:srgbClr val="000000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901" name="Texto 901"/>
          <p:cNvSpPr txBox="1"/>
          <p:nvPr/>
        </p:nvSpPr>
        <p:spPr>
          <a:xfrm>
            <a:off x="0" y="5550000"/>
            <a:ext cx="71121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ODS 3</a:t>
            </a:r>
          </a:p>
        </p:txBody>
      </p:sp>
      <p:sp>
        <p:nvSpPr>
          <p:cNvPr id="902" name="Texto 902"/>
          <p:cNvSpPr txBox="1"/>
          <p:nvPr/>
        </p:nvSpPr>
        <p:spPr>
          <a:xfrm>
            <a:off x="7111888" y="5550000"/>
            <a:ext cx="71121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Art. 12</a:t>
            </a:r>
          </a:p>
        </p:txBody>
      </p:sp>
      <p:sp>
        <p:nvSpPr>
          <p:cNvPr id="903" name="Texto 903"/>
          <p:cNvSpPr txBox="1"/>
          <p:nvPr/>
        </p:nvSpPr>
        <p:spPr>
          <a:xfrm>
            <a:off x="14223776" y="5550000"/>
            <a:ext cx="7112100" cy="2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ES" sz="15000" b="0">
                <a:solidFill>
                  <a:srgbClr val="1818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Art. 24</a:t>
            </a:r>
          </a:p>
        </p:txBody>
      </p:sp>
      <p:grpSp>
        <p:nvGrpSpPr>
          <p:cNvPr id="200" name="Google Shape;200;g3af027dcdef_0_7"/>
          <p:cNvGrpSpPr/>
          <p:nvPr/>
        </p:nvGrpSpPr>
        <p:grpSpPr>
          <a:xfrm>
            <a:off x="-78650" y="-31769"/>
            <a:ext cx="21493200" cy="1092275"/>
            <a:chOff x="-78650" y="-27286"/>
            <a:chExt cx="21493200" cy="1092275"/>
          </a:xfrm>
        </p:grpSpPr>
        <p:sp>
          <p:nvSpPr>
            <p:cNvPr id="201" name="Google Shape;201;g3af027dcdef_0_7"/>
            <p:cNvSpPr/>
            <p:nvPr/>
          </p:nvSpPr>
          <p:spPr>
            <a:xfrm>
              <a:off x="-78650" y="-27275"/>
              <a:ext cx="21493200" cy="106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g3af027dcdef_0_7" title="unicefRecurso 2.png"/>
            <p:cNvPicPr preferRelativeResize="0"/>
            <p:nvPr/>
          </p:nvPicPr>
          <p:blipFill rotWithShape="1">
            <a:blip r:embed="rId3">
              <a:alphaModFix/>
            </a:blip>
            <a:srcRect l="-124065" t="2460" b="-2460"/>
            <a:stretch/>
          </p:blipFill>
          <p:spPr>
            <a:xfrm>
              <a:off x="13701225" y="-27286"/>
              <a:ext cx="7711626" cy="109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g3af027dcdef_0_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545" y="180070"/>
              <a:ext cx="3492825" cy="754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743086674C57F46A659C3C8D4DB2F27" ma:contentTypeVersion="9" ma:contentTypeDescription="Crear nuevo documento." ma:contentTypeScope="" ma:versionID="c0629649749d3703e6626b3c463ed973">
  <xsd:schema xmlns:xsd="http://www.w3.org/2001/XMLSchema" xmlns:xs="http://www.w3.org/2001/XMLSchema" xmlns:p="http://schemas.microsoft.com/office/2006/metadata/properties" xmlns:ns2="43901377-86bd-4eaf-b46e-a252fad11216" xmlns:ns3="17d653f2-f83a-4d2c-b83b-7e1eb972444b" targetNamespace="http://schemas.microsoft.com/office/2006/metadata/properties" ma:root="true" ma:fieldsID="1229175097725e146f40944edd4ec5ff" ns2:_="" ns3:_="">
    <xsd:import namespace="43901377-86bd-4eaf-b46e-a252fad11216"/>
    <xsd:import namespace="17d653f2-f83a-4d2c-b83b-7e1eb97244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901377-86bd-4eaf-b46e-a252fad112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b61e3c23-c0d4-414f-b29c-7f3b08c3b0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653f2-f83a-4d2c-b83b-7e1eb97244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e217777-e19c-40fc-8d0d-a6af4fd52e88}" ma:internalName="TaxCatchAll" ma:showField="CatchAllData" ma:web="17d653f2-f83a-4d2c-b83b-7e1eb97244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901377-86bd-4eaf-b46e-a252fad11216">
      <Terms xmlns="http://schemas.microsoft.com/office/infopath/2007/PartnerControls"/>
    </lcf76f155ced4ddcb4097134ff3c332f>
    <TaxCatchAll xmlns="17d653f2-f83a-4d2c-b83b-7e1eb972444b" xsi:nil="true"/>
  </documentManagement>
</p:properties>
</file>

<file path=customXml/itemProps1.xml><?xml version="1.0" encoding="utf-8"?>
<ds:datastoreItem xmlns:ds="http://schemas.openxmlformats.org/officeDocument/2006/customXml" ds:itemID="{11877DBF-3AF8-4276-BC90-95894192DA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407E64-72E1-4120-80AF-2670DCE3C8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901377-86bd-4eaf-b46e-a252fad11216"/>
    <ds:schemaRef ds:uri="17d653f2-f83a-4d2c-b83b-7e1eb9724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BE6230-1593-47F0-BDB9-AD6F7FE49648}">
  <ds:schemaRefs>
    <ds:schemaRef ds:uri="http://schemas.microsoft.com/office/2006/metadata/properties"/>
    <ds:schemaRef ds:uri="http://schemas.microsoft.com/office/infopath/2007/PartnerControls"/>
    <ds:schemaRef ds:uri="43901377-86bd-4eaf-b46e-a252fad11216"/>
    <ds:schemaRef ds:uri="17d653f2-f83a-4d2c-b83b-7e1eb97244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Microsoft Office PowerPoint</Application>
  <PresentationFormat>Personalizado</PresentationFormat>
  <Paragraphs>86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Poppins Medium</vt:lpstr>
      <vt:lpstr>Source Serif 4 Light</vt:lpstr>
      <vt:lpstr>Helvetica Neue</vt:lpstr>
      <vt:lpstr>Arial</vt:lpstr>
      <vt:lpstr>Source Serif 4</vt:lpstr>
      <vt:lpstr>Source Serif 4 Medium</vt:lpstr>
      <vt:lpstr>Poppins Light</vt:lpstr>
      <vt:lpstr>Source Serif 4 SemiBold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Ianire Martín Sanchez</dc:creator>
  <cp:lastModifiedBy>Ianire Martín Sanchez</cp:lastModifiedBy>
  <cp:revision>1</cp:revision>
  <dcterms:modified xsi:type="dcterms:W3CDTF">2026-10-16T11:01:22Z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0x0101001743086674C57F46A659C3C8D4DB2F27</vt:lpwstr>
  </property>
</Properties>
</file>